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nton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Noto Sans Kr" charset="1" panose="020B0200000000000000"/>
      <p:regular r:id="rId28"/>
    </p:embeddedFont>
    <p:embeddedFont>
      <p:font typeface="Noto Sans Kr Bold" charset="1" panose="020B0200000000000000"/>
      <p:regular r:id="rId29"/>
    </p:embeddedFont>
    <p:embeddedFont>
      <p:font typeface="Poppins" charset="1" panose="00000500000000000000"/>
      <p:regular r:id="rId30"/>
    </p:embeddedFont>
    <p:embeddedFont>
      <p:font typeface="TDTD가시고딕" charset="1" panose="02000503000000000000"/>
      <p:regular r:id="rId31"/>
    </p:embeddedFont>
    <p:embeddedFont>
      <p:font typeface="Poppins Bold Italics" charset="1" panose="000008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3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jpeg" Type="http://schemas.openxmlformats.org/officeDocument/2006/relationships/image"/><Relationship Id="rId5" Target="../media/image5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6606" y="-792430"/>
            <a:ext cx="15921350" cy="15921350"/>
          </a:xfrm>
          <a:custGeom>
            <a:avLst/>
            <a:gdLst/>
            <a:ahLst/>
            <a:cxnLst/>
            <a:rect r="r" b="b" t="t" l="l"/>
            <a:pathLst>
              <a:path h="15921350" w="15921350">
                <a:moveTo>
                  <a:pt x="0" y="0"/>
                </a:moveTo>
                <a:lnTo>
                  <a:pt x="15921350" y="0"/>
                </a:lnTo>
                <a:lnTo>
                  <a:pt x="15921350" y="15921350"/>
                </a:lnTo>
                <a:lnTo>
                  <a:pt x="0" y="1592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941965"/>
            <a:ext cx="9592607" cy="483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1"/>
              </a:lnSpc>
              <a:spcBef>
                <a:spcPct val="0"/>
              </a:spcBef>
            </a:pPr>
            <a:r>
              <a:rPr lang="en-US" sz="2816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HELPER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07796" y="7168245"/>
            <a:ext cx="18395796" cy="3273538"/>
            <a:chOff x="0" y="0"/>
            <a:chExt cx="4844983" cy="8621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44983" cy="862166"/>
            </a:xfrm>
            <a:custGeom>
              <a:avLst/>
              <a:gdLst/>
              <a:ahLst/>
              <a:cxnLst/>
              <a:rect r="r" b="b" t="t" l="l"/>
              <a:pathLst>
                <a:path h="862166" w="4844983">
                  <a:moveTo>
                    <a:pt x="0" y="0"/>
                  </a:moveTo>
                  <a:lnTo>
                    <a:pt x="4844983" y="0"/>
                  </a:lnTo>
                  <a:lnTo>
                    <a:pt x="4844983" y="862166"/>
                  </a:lnTo>
                  <a:lnTo>
                    <a:pt x="0" y="862166"/>
                  </a:lnTo>
                  <a:close/>
                </a:path>
              </a:pathLst>
            </a:custGeom>
            <a:gradFill rotWithShape="true">
              <a:gsLst>
                <a:gs pos="0">
                  <a:srgbClr val="A90000">
                    <a:alpha val="0"/>
                  </a:srgbClr>
                </a:gs>
                <a:gs pos="100000">
                  <a:srgbClr val="A9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44983" cy="900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12112" y="320564"/>
            <a:ext cx="5211957" cy="44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8"/>
              </a:lnSpc>
            </a:pPr>
            <a:r>
              <a:rPr lang="en-US" b="true" sz="24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오픈소스소프트웨어프로젝트</a:t>
            </a:r>
            <a:r>
              <a:rPr lang="en-US" b="true" sz="244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· 03팀</a:t>
            </a:r>
          </a:p>
        </p:txBody>
      </p:sp>
      <p:sp>
        <p:nvSpPr>
          <p:cNvPr name="AutoShape 9" id="9"/>
          <p:cNvSpPr/>
          <p:nvPr/>
        </p:nvSpPr>
        <p:spPr>
          <a:xfrm>
            <a:off x="-1268980" y="9258300"/>
            <a:ext cx="2071816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28567" y="580070"/>
            <a:ext cx="1382061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0" y="9344321"/>
            <a:ext cx="8135192" cy="44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4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김소영</a:t>
            </a:r>
            <a:r>
              <a:rPr lang="en-US" b="true" sz="244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· 강지호 · 이동은 ｜ 사회혁신가 ㈜오롯플래닛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6769782"/>
            <a:ext cx="914400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음성인식 기반 공연 자막 송출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오퍼레이터 작업 보조 인터페이스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7925" y="4879975"/>
            <a:ext cx="29215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30849" y="9471744"/>
            <a:ext cx="231928" cy="56302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sz="329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6405796" y="5683876"/>
            <a:ext cx="14138732" cy="245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49"/>
              </a:lnSpc>
            </a:pPr>
            <a:r>
              <a:rPr lang="en-US" sz="18813">
                <a:solidFill>
                  <a:srgbClr val="FFFFFF">
                    <a:alpha val="45882"/>
                  </a:srgbClr>
                </a:solidFill>
                <a:latin typeface="Anton"/>
                <a:ea typeface="Anton"/>
                <a:cs typeface="Anton"/>
                <a:sym typeface="Anton"/>
              </a:rPr>
              <a:t>BARRIER FREE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32180" y="949481"/>
            <a:ext cx="5623639" cy="176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5"/>
              </a:lnSpc>
            </a:pPr>
            <a:r>
              <a:rPr lang="en-US" sz="135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02298" y="2849558"/>
            <a:ext cx="3483403" cy="561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과제 개요</a:t>
            </a:r>
          </a:p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추진 배경</a:t>
            </a:r>
          </a:p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개발 목표</a:t>
            </a:r>
          </a:p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개발 내용</a:t>
            </a:r>
          </a:p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기대 효과</a:t>
            </a:r>
          </a:p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추진 계획</a:t>
            </a:r>
          </a:p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참고자료 </a:t>
            </a:r>
          </a:p>
          <a:p>
            <a:pPr algn="l" marL="863606" indent="-431803" lvl="1">
              <a:lnSpc>
                <a:spcPts val="5600"/>
              </a:lnSpc>
              <a:buAutoNum type="arabicPeriod" startAt="1"/>
            </a:pPr>
            <a:r>
              <a:rPr lang="en-US" b="true" sz="4000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Q&amp;A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34013" y="9477979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629148"/>
            <a:ext cx="9703569" cy="1514352"/>
          </a:xfrm>
          <a:custGeom>
            <a:avLst/>
            <a:gdLst/>
            <a:ahLst/>
            <a:cxnLst/>
            <a:rect r="r" b="b" t="t" l="l"/>
            <a:pathLst>
              <a:path h="1514352" w="9703569">
                <a:moveTo>
                  <a:pt x="0" y="0"/>
                </a:moveTo>
                <a:lnTo>
                  <a:pt x="9703569" y="0"/>
                </a:lnTo>
                <a:lnTo>
                  <a:pt x="9703569" y="1514352"/>
                </a:lnTo>
                <a:lnTo>
                  <a:pt x="0" y="151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32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248275"/>
            <a:ext cx="9703569" cy="1514352"/>
          </a:xfrm>
          <a:custGeom>
            <a:avLst/>
            <a:gdLst/>
            <a:ahLst/>
            <a:cxnLst/>
            <a:rect r="r" b="b" t="t" l="l"/>
            <a:pathLst>
              <a:path h="1514352" w="9703569">
                <a:moveTo>
                  <a:pt x="0" y="0"/>
                </a:moveTo>
                <a:lnTo>
                  <a:pt x="9703569" y="0"/>
                </a:lnTo>
                <a:lnTo>
                  <a:pt x="9703569" y="1514352"/>
                </a:lnTo>
                <a:lnTo>
                  <a:pt x="0" y="151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32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867402"/>
            <a:ext cx="9703569" cy="1514352"/>
          </a:xfrm>
          <a:custGeom>
            <a:avLst/>
            <a:gdLst/>
            <a:ahLst/>
            <a:cxnLst/>
            <a:rect r="r" b="b" t="t" l="l"/>
            <a:pathLst>
              <a:path h="1514352" w="9703569">
                <a:moveTo>
                  <a:pt x="0" y="0"/>
                </a:moveTo>
                <a:lnTo>
                  <a:pt x="9703569" y="0"/>
                </a:lnTo>
                <a:lnTo>
                  <a:pt x="9703569" y="1514351"/>
                </a:lnTo>
                <a:lnTo>
                  <a:pt x="0" y="151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32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35696" y="3612666"/>
            <a:ext cx="765896" cy="704624"/>
          </a:xfrm>
          <a:custGeom>
            <a:avLst/>
            <a:gdLst/>
            <a:ahLst/>
            <a:cxnLst/>
            <a:rect r="r" b="b" t="t" l="l"/>
            <a:pathLst>
              <a:path h="704624" w="765896">
                <a:moveTo>
                  <a:pt x="0" y="0"/>
                </a:moveTo>
                <a:lnTo>
                  <a:pt x="765896" y="0"/>
                </a:lnTo>
                <a:lnTo>
                  <a:pt x="765896" y="704624"/>
                </a:lnTo>
                <a:lnTo>
                  <a:pt x="0" y="704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60183" y="3964978"/>
            <a:ext cx="2396504" cy="826794"/>
          </a:xfrm>
          <a:custGeom>
            <a:avLst/>
            <a:gdLst/>
            <a:ahLst/>
            <a:cxnLst/>
            <a:rect r="r" b="b" t="t" l="l"/>
            <a:pathLst>
              <a:path h="826794" w="2396504">
                <a:moveTo>
                  <a:pt x="0" y="0"/>
                </a:moveTo>
                <a:lnTo>
                  <a:pt x="2396504" y="0"/>
                </a:lnTo>
                <a:lnTo>
                  <a:pt x="2396504" y="826794"/>
                </a:lnTo>
                <a:lnTo>
                  <a:pt x="0" y="826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3480" y="1003030"/>
            <a:ext cx="10942216" cy="127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7"/>
              </a:lnSpc>
            </a:pPr>
            <a:r>
              <a:rPr lang="en-US" sz="981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TEAM NAME - HELPER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7625" y="369853"/>
            <a:ext cx="4262504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 과제 개요  ·  팀 및 과제 소개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93504"/>
            <a:ext cx="4262504" cy="90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35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팀원 · 역할</a:t>
            </a:r>
          </a:p>
          <a:p>
            <a:pPr algn="l">
              <a:lnSpc>
                <a:spcPts val="349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21032" y="3895152"/>
            <a:ext cx="44375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통계학과 김소영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1032" y="5514278"/>
            <a:ext cx="44375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통계학과 강지호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1032" y="7133405"/>
            <a:ext cx="44375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통계학과 이동은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69998" y="3773783"/>
            <a:ext cx="1264865" cy="4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35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GITHUB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35696" y="5666180"/>
            <a:ext cx="400002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🧑‍🧑‍🧒‍🧒 함께하는 분들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38764" y="6775812"/>
            <a:ext cx="7029370" cy="140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679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오</a:t>
            </a:r>
            <a:r>
              <a:rPr lang="en-US" sz="2679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롯플래닛 황운주 팀장님</a:t>
            </a:r>
          </a:p>
          <a:p>
            <a:pPr algn="l">
              <a:lnSpc>
                <a:spcPts val="3751"/>
              </a:lnSpc>
            </a:pPr>
            <a:r>
              <a:rPr lang="en-US" sz="2679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카카오스타일 이민정님(기획)</a:t>
            </a:r>
          </a:p>
          <a:p>
            <a:pPr algn="l">
              <a:lnSpc>
                <a:spcPts val="3751"/>
              </a:lnSpc>
            </a:pPr>
            <a:r>
              <a:rPr lang="en-US" sz="2679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카카오페이 이상은님(모바일 개발)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77679" y="4060548"/>
            <a:ext cx="961513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기획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660183" y="5574580"/>
            <a:ext cx="2396504" cy="826794"/>
          </a:xfrm>
          <a:custGeom>
            <a:avLst/>
            <a:gdLst/>
            <a:ahLst/>
            <a:cxnLst/>
            <a:rect r="r" b="b" t="t" l="l"/>
            <a:pathLst>
              <a:path h="826794" w="2396504">
                <a:moveTo>
                  <a:pt x="0" y="0"/>
                </a:moveTo>
                <a:lnTo>
                  <a:pt x="2396504" y="0"/>
                </a:lnTo>
                <a:lnTo>
                  <a:pt x="2396504" y="826793"/>
                </a:lnTo>
                <a:lnTo>
                  <a:pt x="0" y="826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660183" y="7228655"/>
            <a:ext cx="2396504" cy="826794"/>
          </a:xfrm>
          <a:custGeom>
            <a:avLst/>
            <a:gdLst/>
            <a:ahLst/>
            <a:cxnLst/>
            <a:rect r="r" b="b" t="t" l="l"/>
            <a:pathLst>
              <a:path h="826794" w="2396504">
                <a:moveTo>
                  <a:pt x="0" y="0"/>
                </a:moveTo>
                <a:lnTo>
                  <a:pt x="2396504" y="0"/>
                </a:lnTo>
                <a:lnTo>
                  <a:pt x="2396504" y="826794"/>
                </a:lnTo>
                <a:lnTo>
                  <a:pt x="0" y="826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77679" y="5626344"/>
            <a:ext cx="961513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개발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18866" y="7262945"/>
            <a:ext cx="1879139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디자인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881840" y="955206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35696" y="4612363"/>
            <a:ext cx="622615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CSID-DGU/2026-2-OSSPROJ-HELPER-03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25" y="1028700"/>
            <a:ext cx="5803890" cy="4549677"/>
            <a:chOff x="0" y="0"/>
            <a:chExt cx="3531555" cy="2768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31555" cy="2768390"/>
            </a:xfrm>
            <a:custGeom>
              <a:avLst/>
              <a:gdLst/>
              <a:ahLst/>
              <a:cxnLst/>
              <a:rect r="r" b="b" t="t" l="l"/>
              <a:pathLst>
                <a:path h="2768390" w="3531555">
                  <a:moveTo>
                    <a:pt x="0" y="0"/>
                  </a:moveTo>
                  <a:lnTo>
                    <a:pt x="3531555" y="0"/>
                  </a:lnTo>
                  <a:lnTo>
                    <a:pt x="3531555" y="2768390"/>
                  </a:lnTo>
                  <a:lnTo>
                    <a:pt x="0" y="2768390"/>
                  </a:lnTo>
                  <a:close/>
                </a:path>
              </a:pathLst>
            </a:custGeom>
            <a:blipFill>
              <a:blip r:embed="rId2"/>
              <a:stretch>
                <a:fillRect l="-4993" t="0" r="-499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87269" y="4632236"/>
            <a:ext cx="9431273" cy="4914996"/>
            <a:chOff x="0" y="0"/>
            <a:chExt cx="5312201" cy="2768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12201" cy="2768390"/>
            </a:xfrm>
            <a:custGeom>
              <a:avLst/>
              <a:gdLst/>
              <a:ahLst/>
              <a:cxnLst/>
              <a:rect r="r" b="b" t="t" l="l"/>
              <a:pathLst>
                <a:path h="2768390" w="5312201">
                  <a:moveTo>
                    <a:pt x="0" y="0"/>
                  </a:moveTo>
                  <a:lnTo>
                    <a:pt x="5312201" y="0"/>
                  </a:lnTo>
                  <a:lnTo>
                    <a:pt x="5312201" y="2768390"/>
                  </a:lnTo>
                  <a:lnTo>
                    <a:pt x="0" y="2768390"/>
                  </a:lnTo>
                  <a:close/>
                </a:path>
              </a:pathLst>
            </a:custGeom>
            <a:blipFill>
              <a:blip r:embed="rId3"/>
              <a:stretch>
                <a:fillRect l="0" t="-9306" r="0" b="-9306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078006" y="-2256933"/>
            <a:ext cx="5789236" cy="5789236"/>
          </a:xfrm>
          <a:custGeom>
            <a:avLst/>
            <a:gdLst/>
            <a:ahLst/>
            <a:cxnLst/>
            <a:rect r="r" b="b" t="t" l="l"/>
            <a:pathLst>
              <a:path h="5789236" w="5789236">
                <a:moveTo>
                  <a:pt x="0" y="0"/>
                </a:moveTo>
                <a:lnTo>
                  <a:pt x="5789236" y="0"/>
                </a:lnTo>
                <a:lnTo>
                  <a:pt x="5789236" y="5789236"/>
                </a:lnTo>
                <a:lnTo>
                  <a:pt x="0" y="578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88022" y="-1556635"/>
            <a:ext cx="4369204" cy="4365563"/>
          </a:xfrm>
          <a:custGeom>
            <a:avLst/>
            <a:gdLst/>
            <a:ahLst/>
            <a:cxnLst/>
            <a:rect r="r" b="b" t="t" l="l"/>
            <a:pathLst>
              <a:path h="4365563" w="4369204">
                <a:moveTo>
                  <a:pt x="0" y="0"/>
                </a:moveTo>
                <a:lnTo>
                  <a:pt x="4369204" y="0"/>
                </a:lnTo>
                <a:lnTo>
                  <a:pt x="4369204" y="4365562"/>
                </a:lnTo>
                <a:lnTo>
                  <a:pt x="0" y="4365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00975" y="2612091"/>
            <a:ext cx="9414641" cy="1725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745" spc="7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• 청각·연령·언어 장벽 없는 문화 접근성 향상이 미션</a:t>
            </a:r>
          </a:p>
          <a:p>
            <a:pPr algn="l">
              <a:lnSpc>
                <a:spcPts val="3597"/>
              </a:lnSpc>
            </a:pPr>
            <a:r>
              <a:rPr lang="en-US" sz="2745" spc="7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• 연 800편 이상 영화·OTT 배리어프리 자막</a:t>
            </a:r>
            <a:r>
              <a:rPr lang="en-US" sz="2745" spc="7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제작</a:t>
            </a:r>
          </a:p>
          <a:p>
            <a:pPr algn="l">
              <a:lnSpc>
                <a:spcPts val="3597"/>
              </a:lnSpc>
            </a:pPr>
            <a:r>
              <a:rPr lang="en-US" sz="2745" spc="7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• 웹 기반 자원봉사 자막 제작 플랫폼 운영</a:t>
            </a:r>
          </a:p>
          <a:p>
            <a:pPr algn="l">
              <a:lnSpc>
                <a:spcPts val="2663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230406" y="-2104533"/>
            <a:ext cx="5789236" cy="5789236"/>
          </a:xfrm>
          <a:custGeom>
            <a:avLst/>
            <a:gdLst/>
            <a:ahLst/>
            <a:cxnLst/>
            <a:rect r="r" b="b" t="t" l="l"/>
            <a:pathLst>
              <a:path h="5789236" w="5789236">
                <a:moveTo>
                  <a:pt x="0" y="0"/>
                </a:moveTo>
                <a:lnTo>
                  <a:pt x="5789236" y="0"/>
                </a:lnTo>
                <a:lnTo>
                  <a:pt x="5789236" y="5789236"/>
                </a:lnTo>
                <a:lnTo>
                  <a:pt x="0" y="578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40422" y="-1404235"/>
            <a:ext cx="4369204" cy="4365563"/>
          </a:xfrm>
          <a:custGeom>
            <a:avLst/>
            <a:gdLst/>
            <a:ahLst/>
            <a:cxnLst/>
            <a:rect r="r" b="b" t="t" l="l"/>
            <a:pathLst>
              <a:path h="4365563" w="4369204">
                <a:moveTo>
                  <a:pt x="0" y="0"/>
                </a:moveTo>
                <a:lnTo>
                  <a:pt x="4369204" y="0"/>
                </a:lnTo>
                <a:lnTo>
                  <a:pt x="4369204" y="4365562"/>
                </a:lnTo>
                <a:lnTo>
                  <a:pt x="0" y="4365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11560" y="6830097"/>
            <a:ext cx="11379023" cy="744809"/>
          </a:xfrm>
          <a:custGeom>
            <a:avLst/>
            <a:gdLst/>
            <a:ahLst/>
            <a:cxnLst/>
            <a:rect r="r" b="b" t="t" l="l"/>
            <a:pathLst>
              <a:path h="744809" w="11379023">
                <a:moveTo>
                  <a:pt x="0" y="0"/>
                </a:moveTo>
                <a:lnTo>
                  <a:pt x="11379023" y="0"/>
                </a:lnTo>
                <a:lnTo>
                  <a:pt x="11379023" y="744809"/>
                </a:lnTo>
                <a:lnTo>
                  <a:pt x="0" y="744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4036" y="7679681"/>
            <a:ext cx="7607674" cy="1645720"/>
          </a:xfrm>
          <a:custGeom>
            <a:avLst/>
            <a:gdLst/>
            <a:ahLst/>
            <a:cxnLst/>
            <a:rect r="r" b="b" t="t" l="l"/>
            <a:pathLst>
              <a:path h="1645720" w="7607674">
                <a:moveTo>
                  <a:pt x="0" y="0"/>
                </a:moveTo>
                <a:lnTo>
                  <a:pt x="7607675" y="0"/>
                </a:lnTo>
                <a:lnTo>
                  <a:pt x="7607675" y="1645720"/>
                </a:lnTo>
                <a:lnTo>
                  <a:pt x="0" y="1645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9572" b="-5421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7625" y="369853"/>
            <a:ext cx="6173668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 과제 개요  ·  오롯플래닛 / UNISTEP 소개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00975" y="1324202"/>
            <a:ext cx="9414641" cy="148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8"/>
              </a:lnSpc>
            </a:pPr>
            <a:r>
              <a:rPr lang="en-US" sz="484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오</a:t>
            </a:r>
            <a:r>
              <a:rPr lang="en-US" sz="484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롯플래닛 (OROT PLANET)</a:t>
            </a:r>
          </a:p>
          <a:p>
            <a:pPr algn="l">
              <a:lnSpc>
                <a:spcPts val="47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84195" y="5935768"/>
            <a:ext cx="9414641" cy="78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8"/>
              </a:lnSpc>
            </a:pPr>
            <a:r>
              <a:rPr lang="en-US" sz="484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UNISTEP (유니스텝)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92376" y="9594857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9077"/>
            <a:ext cx="6570902" cy="4152719"/>
          </a:xfrm>
          <a:custGeom>
            <a:avLst/>
            <a:gdLst/>
            <a:ahLst/>
            <a:cxnLst/>
            <a:rect r="r" b="b" t="t" l="l"/>
            <a:pathLst>
              <a:path h="4152719" w="6570902">
                <a:moveTo>
                  <a:pt x="0" y="0"/>
                </a:moveTo>
                <a:lnTo>
                  <a:pt x="6570902" y="0"/>
                </a:lnTo>
                <a:lnTo>
                  <a:pt x="6570902" y="4152720"/>
                </a:lnTo>
                <a:lnTo>
                  <a:pt x="0" y="415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989346"/>
            <a:ext cx="6570902" cy="3519924"/>
          </a:xfrm>
          <a:custGeom>
            <a:avLst/>
            <a:gdLst/>
            <a:ahLst/>
            <a:cxnLst/>
            <a:rect r="r" b="b" t="t" l="l"/>
            <a:pathLst>
              <a:path h="3519924" w="6570902">
                <a:moveTo>
                  <a:pt x="0" y="0"/>
                </a:moveTo>
                <a:lnTo>
                  <a:pt x="6570902" y="0"/>
                </a:lnTo>
                <a:lnTo>
                  <a:pt x="6570902" y="3519925"/>
                </a:lnTo>
                <a:lnTo>
                  <a:pt x="0" y="3519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36797" y="3909873"/>
            <a:ext cx="10202938" cy="4783090"/>
          </a:xfrm>
          <a:custGeom>
            <a:avLst/>
            <a:gdLst/>
            <a:ahLst/>
            <a:cxnLst/>
            <a:rect r="r" b="b" t="t" l="l"/>
            <a:pathLst>
              <a:path h="4783090" w="10202938">
                <a:moveTo>
                  <a:pt x="0" y="0"/>
                </a:moveTo>
                <a:lnTo>
                  <a:pt x="10202938" y="0"/>
                </a:lnTo>
                <a:lnTo>
                  <a:pt x="10202938" y="4783090"/>
                </a:lnTo>
                <a:lnTo>
                  <a:pt x="0" y="4783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925" t="0" r="-14452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36797" y="1119077"/>
            <a:ext cx="3213008" cy="2085399"/>
          </a:xfrm>
          <a:custGeom>
            <a:avLst/>
            <a:gdLst/>
            <a:ahLst/>
            <a:cxnLst/>
            <a:rect r="r" b="b" t="t" l="l"/>
            <a:pathLst>
              <a:path h="2085399" w="3213008">
                <a:moveTo>
                  <a:pt x="0" y="0"/>
                </a:moveTo>
                <a:lnTo>
                  <a:pt x="3213008" y="0"/>
                </a:lnTo>
                <a:lnTo>
                  <a:pt x="3213008" y="2085399"/>
                </a:lnTo>
                <a:lnTo>
                  <a:pt x="0" y="2085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41643" y="1119077"/>
            <a:ext cx="3271381" cy="2127784"/>
          </a:xfrm>
          <a:custGeom>
            <a:avLst/>
            <a:gdLst/>
            <a:ahLst/>
            <a:cxnLst/>
            <a:rect r="r" b="b" t="t" l="l"/>
            <a:pathLst>
              <a:path h="2127784" w="3271381">
                <a:moveTo>
                  <a:pt x="0" y="0"/>
                </a:moveTo>
                <a:lnTo>
                  <a:pt x="3271381" y="0"/>
                </a:lnTo>
                <a:lnTo>
                  <a:pt x="3271381" y="2127784"/>
                </a:lnTo>
                <a:lnTo>
                  <a:pt x="0" y="2127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04862" y="1119077"/>
            <a:ext cx="3286026" cy="2132791"/>
          </a:xfrm>
          <a:custGeom>
            <a:avLst/>
            <a:gdLst/>
            <a:ahLst/>
            <a:cxnLst/>
            <a:rect r="r" b="b" t="t" l="l"/>
            <a:pathLst>
              <a:path h="2132791" w="3286026">
                <a:moveTo>
                  <a:pt x="0" y="0"/>
                </a:moveTo>
                <a:lnTo>
                  <a:pt x="3286026" y="0"/>
                </a:lnTo>
                <a:lnTo>
                  <a:pt x="3286026" y="2132791"/>
                </a:lnTo>
                <a:lnTo>
                  <a:pt x="0" y="2132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7625" y="460230"/>
            <a:ext cx="4262504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 추진 배경  ·  현황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224172"/>
            <a:ext cx="430565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2026.9.15 오롯플래닛 필드트립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461646"/>
            <a:ext cx="406336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유니스텝 오퍼레이터 송출 화면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70193" y="4080116"/>
            <a:ext cx="3704868" cy="5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BB0907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현장에서 확인한 사실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70193" y="7053556"/>
            <a:ext cx="2045256" cy="5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BB0907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현장의 기대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87950" y="4702980"/>
            <a:ext cx="10202938" cy="198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오퍼레이터가 공연 내내 큐를 하나씩 손으로 넘김. 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애드리브는 배우 조합마다 달라 미리 등록하지 못함 → 그 구간은 빈 자막으로 처리.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대본 이탈 뒤 현재 위치를 다시 찾는 데 시간이 걸려 자막이 끊기거나 늦게 나감.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과거 음성인식 도입 시도는 "반갑습니다"와 "반가워요" 같은 표현 차이를 같은 대사로 인식하지 못해 중단, 완전 자동 송출은 신뢰하지 않음. 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공연장 통신 환경이 확인되지 않았고, 오퍼레이터 노트북 한 대에서 모든 작업이 이루어짐.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8425" y="7720733"/>
            <a:ext cx="10852649" cy="64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“애드리브 문제만 해결돼도 만족” - 실시간 자막이 어렵다면 상황을 설명하는 자막도 괜찮다고 언급.</a:t>
            </a:r>
          </a:p>
          <a:p>
            <a:pPr algn="l" marL="410218" indent="-205109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송출 판단은 사람이 하되, 오퍼레이터의 부담을 덜어 주는 보조 도구를 원함.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74564" y="954737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098600" cy="2092837"/>
          </a:xfrm>
          <a:custGeom>
            <a:avLst/>
            <a:gdLst/>
            <a:ahLst/>
            <a:cxnLst/>
            <a:rect r="r" b="b" t="t" l="l"/>
            <a:pathLst>
              <a:path h="2092837" w="16098600">
                <a:moveTo>
                  <a:pt x="0" y="0"/>
                </a:moveTo>
                <a:lnTo>
                  <a:pt x="16098600" y="0"/>
                </a:lnTo>
                <a:lnTo>
                  <a:pt x="16098600" y="2092837"/>
                </a:lnTo>
                <a:lnTo>
                  <a:pt x="0" y="2092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400" t="0" r="-54973" b="-1285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100" y="3464437"/>
            <a:ext cx="3956474" cy="1154250"/>
          </a:xfrm>
          <a:custGeom>
            <a:avLst/>
            <a:gdLst/>
            <a:ahLst/>
            <a:cxnLst/>
            <a:rect r="r" b="b" t="t" l="l"/>
            <a:pathLst>
              <a:path h="1154250" w="3956474">
                <a:moveTo>
                  <a:pt x="0" y="0"/>
                </a:moveTo>
                <a:lnTo>
                  <a:pt x="3956474" y="0"/>
                </a:lnTo>
                <a:lnTo>
                  <a:pt x="3956474" y="1154249"/>
                </a:lnTo>
                <a:lnTo>
                  <a:pt x="0" y="1154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18374" y="3799304"/>
            <a:ext cx="1155142" cy="373014"/>
          </a:xfrm>
          <a:custGeom>
            <a:avLst/>
            <a:gdLst/>
            <a:ahLst/>
            <a:cxnLst/>
            <a:rect r="r" b="b" t="t" l="l"/>
            <a:pathLst>
              <a:path h="373014" w="1155142">
                <a:moveTo>
                  <a:pt x="0" y="0"/>
                </a:moveTo>
                <a:lnTo>
                  <a:pt x="1155142" y="0"/>
                </a:lnTo>
                <a:lnTo>
                  <a:pt x="1155142" y="373014"/>
                </a:lnTo>
                <a:lnTo>
                  <a:pt x="0" y="373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74987" y="3471825"/>
            <a:ext cx="3931149" cy="1146861"/>
          </a:xfrm>
          <a:custGeom>
            <a:avLst/>
            <a:gdLst/>
            <a:ahLst/>
            <a:cxnLst/>
            <a:rect r="r" b="b" t="t" l="l"/>
            <a:pathLst>
              <a:path h="1146861" w="3931149">
                <a:moveTo>
                  <a:pt x="0" y="0"/>
                </a:moveTo>
                <a:lnTo>
                  <a:pt x="3931149" y="0"/>
                </a:lnTo>
                <a:lnTo>
                  <a:pt x="3931149" y="1146861"/>
                </a:lnTo>
                <a:lnTo>
                  <a:pt x="0" y="1146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96611" y="3855054"/>
            <a:ext cx="1155142" cy="373014"/>
          </a:xfrm>
          <a:custGeom>
            <a:avLst/>
            <a:gdLst/>
            <a:ahLst/>
            <a:cxnLst/>
            <a:rect r="r" b="b" t="t" l="l"/>
            <a:pathLst>
              <a:path h="373014" w="1155142">
                <a:moveTo>
                  <a:pt x="0" y="0"/>
                </a:moveTo>
                <a:lnTo>
                  <a:pt x="1155142" y="0"/>
                </a:lnTo>
                <a:lnTo>
                  <a:pt x="1155142" y="373015"/>
                </a:lnTo>
                <a:lnTo>
                  <a:pt x="0" y="373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79742" y="3471825"/>
            <a:ext cx="3931149" cy="1146861"/>
          </a:xfrm>
          <a:custGeom>
            <a:avLst/>
            <a:gdLst/>
            <a:ahLst/>
            <a:cxnLst/>
            <a:rect r="r" b="b" t="t" l="l"/>
            <a:pathLst>
              <a:path h="1146861" w="3931149">
                <a:moveTo>
                  <a:pt x="0" y="0"/>
                </a:moveTo>
                <a:lnTo>
                  <a:pt x="3931149" y="0"/>
                </a:lnTo>
                <a:lnTo>
                  <a:pt x="3931149" y="1146861"/>
                </a:lnTo>
                <a:lnTo>
                  <a:pt x="0" y="1146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0891" y="3858748"/>
            <a:ext cx="1155142" cy="373014"/>
          </a:xfrm>
          <a:custGeom>
            <a:avLst/>
            <a:gdLst/>
            <a:ahLst/>
            <a:cxnLst/>
            <a:rect r="r" b="b" t="t" l="l"/>
            <a:pathLst>
              <a:path h="373014" w="1155142">
                <a:moveTo>
                  <a:pt x="0" y="0"/>
                </a:moveTo>
                <a:lnTo>
                  <a:pt x="1155142" y="0"/>
                </a:lnTo>
                <a:lnTo>
                  <a:pt x="1155142" y="373015"/>
                </a:lnTo>
                <a:lnTo>
                  <a:pt x="0" y="373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82441" y="3485656"/>
            <a:ext cx="3883741" cy="1133031"/>
          </a:xfrm>
          <a:custGeom>
            <a:avLst/>
            <a:gdLst/>
            <a:ahLst/>
            <a:cxnLst/>
            <a:rect r="r" b="b" t="t" l="l"/>
            <a:pathLst>
              <a:path h="1133031" w="3883741">
                <a:moveTo>
                  <a:pt x="0" y="0"/>
                </a:moveTo>
                <a:lnTo>
                  <a:pt x="3883741" y="0"/>
                </a:lnTo>
                <a:lnTo>
                  <a:pt x="3883741" y="1133030"/>
                </a:lnTo>
                <a:lnTo>
                  <a:pt x="0" y="11330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377" y="4980636"/>
            <a:ext cx="5709944" cy="4489489"/>
          </a:xfrm>
          <a:custGeom>
            <a:avLst/>
            <a:gdLst/>
            <a:ahLst/>
            <a:cxnLst/>
            <a:rect r="r" b="b" t="t" l="l"/>
            <a:pathLst>
              <a:path h="4489489" w="5709944">
                <a:moveTo>
                  <a:pt x="0" y="0"/>
                </a:moveTo>
                <a:lnTo>
                  <a:pt x="5709944" y="0"/>
                </a:lnTo>
                <a:lnTo>
                  <a:pt x="5709944" y="4489490"/>
                </a:lnTo>
                <a:lnTo>
                  <a:pt x="0" y="4489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" t="0" r="-12355" b="-3799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944194" y="4980636"/>
            <a:ext cx="6053169" cy="4489489"/>
          </a:xfrm>
          <a:custGeom>
            <a:avLst/>
            <a:gdLst/>
            <a:ahLst/>
            <a:cxnLst/>
            <a:rect r="r" b="b" t="t" l="l"/>
            <a:pathLst>
              <a:path h="4489489" w="6053169">
                <a:moveTo>
                  <a:pt x="0" y="0"/>
                </a:moveTo>
                <a:lnTo>
                  <a:pt x="6053170" y="0"/>
                </a:lnTo>
                <a:lnTo>
                  <a:pt x="6053170" y="4489490"/>
                </a:lnTo>
                <a:lnTo>
                  <a:pt x="0" y="44894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3461" b="-3468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83089" y="4980636"/>
            <a:ext cx="5846771" cy="4489489"/>
          </a:xfrm>
          <a:custGeom>
            <a:avLst/>
            <a:gdLst/>
            <a:ahLst/>
            <a:cxnLst/>
            <a:rect r="r" b="b" t="t" l="l"/>
            <a:pathLst>
              <a:path h="4489489" w="5846771">
                <a:moveTo>
                  <a:pt x="0" y="0"/>
                </a:moveTo>
                <a:lnTo>
                  <a:pt x="5846770" y="0"/>
                </a:lnTo>
                <a:lnTo>
                  <a:pt x="5846770" y="4489490"/>
                </a:lnTo>
                <a:lnTo>
                  <a:pt x="0" y="44894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7113" b="-3468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7625" y="369853"/>
            <a:ext cx="4262504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 추진 배경  ·  문제 정의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0163" y="1675703"/>
            <a:ext cx="1878211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BB0907"/>
                </a:solidFill>
                <a:latin typeface="Poppins Bold"/>
                <a:ea typeface="Poppins Bold"/>
                <a:cs typeface="Poppins Bold"/>
                <a:sym typeface="Poppins Bold"/>
              </a:rPr>
              <a:t>문제 정의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73516" y="1545645"/>
            <a:ext cx="11149858" cy="98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  <a:spcBef>
                <a:spcPct val="0"/>
              </a:spcBef>
            </a:pPr>
            <a:r>
              <a:rPr lang="en-US" b="true" sz="27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배우가 대본을 벗어나면 오퍼레이터가 현재 위치를 놓쳐, 자막이 비거나 최대 30초 늦어지고</a:t>
            </a:r>
            <a:r>
              <a:rPr lang="en-US" b="true" sz="27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외국인·청각장애인 관객은 그 순간을 놓침.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61160" y="949870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624" y="937871"/>
            <a:ext cx="18603023" cy="7324940"/>
          </a:xfrm>
          <a:custGeom>
            <a:avLst/>
            <a:gdLst/>
            <a:ahLst/>
            <a:cxnLst/>
            <a:rect r="r" b="b" t="t" l="l"/>
            <a:pathLst>
              <a:path h="7324940" w="18603023">
                <a:moveTo>
                  <a:pt x="0" y="0"/>
                </a:moveTo>
                <a:lnTo>
                  <a:pt x="18603023" y="0"/>
                </a:lnTo>
                <a:lnTo>
                  <a:pt x="18603023" y="7324941"/>
                </a:lnTo>
                <a:lnTo>
                  <a:pt x="0" y="7324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8386" y="8510155"/>
            <a:ext cx="15831229" cy="1553439"/>
          </a:xfrm>
          <a:custGeom>
            <a:avLst/>
            <a:gdLst/>
            <a:ahLst/>
            <a:cxnLst/>
            <a:rect r="r" b="b" t="t" l="l"/>
            <a:pathLst>
              <a:path h="1553439" w="15831229">
                <a:moveTo>
                  <a:pt x="0" y="0"/>
                </a:moveTo>
                <a:lnTo>
                  <a:pt x="15831228" y="0"/>
                </a:lnTo>
                <a:lnTo>
                  <a:pt x="15831228" y="1553440"/>
                </a:lnTo>
                <a:lnTo>
                  <a:pt x="0" y="1553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625" y="369853"/>
            <a:ext cx="6114863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 추진 배경  ·  선행기술 및 사례 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97267" y="9574489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25" y="1028700"/>
            <a:ext cx="12819332" cy="8389184"/>
            <a:chOff x="0" y="0"/>
            <a:chExt cx="3376285" cy="2209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6285" cy="2209497"/>
            </a:xfrm>
            <a:custGeom>
              <a:avLst/>
              <a:gdLst/>
              <a:ahLst/>
              <a:cxnLst/>
              <a:rect r="r" b="b" t="t" l="l"/>
              <a:pathLst>
                <a:path h="2209497" w="3376285">
                  <a:moveTo>
                    <a:pt x="30800" y="0"/>
                  </a:moveTo>
                  <a:lnTo>
                    <a:pt x="3345485" y="0"/>
                  </a:lnTo>
                  <a:cubicBezTo>
                    <a:pt x="3362495" y="0"/>
                    <a:pt x="3376285" y="13790"/>
                    <a:pt x="3376285" y="30800"/>
                  </a:cubicBezTo>
                  <a:lnTo>
                    <a:pt x="3376285" y="2178697"/>
                  </a:lnTo>
                  <a:cubicBezTo>
                    <a:pt x="3376285" y="2195707"/>
                    <a:pt x="3362495" y="2209497"/>
                    <a:pt x="3345485" y="2209497"/>
                  </a:cubicBezTo>
                  <a:lnTo>
                    <a:pt x="30800" y="2209497"/>
                  </a:lnTo>
                  <a:cubicBezTo>
                    <a:pt x="13790" y="2209497"/>
                    <a:pt x="0" y="2195707"/>
                    <a:pt x="0" y="2178697"/>
                  </a:cubicBezTo>
                  <a:lnTo>
                    <a:pt x="0" y="30800"/>
                  </a:lnTo>
                  <a:cubicBezTo>
                    <a:pt x="0" y="13790"/>
                    <a:pt x="13790" y="0"/>
                    <a:pt x="30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376285" cy="2285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45411" y="1028700"/>
            <a:ext cx="4351857" cy="8389184"/>
            <a:chOff x="0" y="0"/>
            <a:chExt cx="1146168" cy="2209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6168" cy="2209497"/>
            </a:xfrm>
            <a:custGeom>
              <a:avLst/>
              <a:gdLst/>
              <a:ahLst/>
              <a:cxnLst/>
              <a:rect r="r" b="b" t="t" l="l"/>
              <a:pathLst>
                <a:path h="2209497" w="1146168">
                  <a:moveTo>
                    <a:pt x="90729" y="0"/>
                  </a:moveTo>
                  <a:lnTo>
                    <a:pt x="1055439" y="0"/>
                  </a:lnTo>
                  <a:cubicBezTo>
                    <a:pt x="1105547" y="0"/>
                    <a:pt x="1146168" y="40621"/>
                    <a:pt x="1146168" y="90729"/>
                  </a:cubicBezTo>
                  <a:lnTo>
                    <a:pt x="1146168" y="2118768"/>
                  </a:lnTo>
                  <a:cubicBezTo>
                    <a:pt x="1146168" y="2168876"/>
                    <a:pt x="1105547" y="2209497"/>
                    <a:pt x="1055439" y="2209497"/>
                  </a:cubicBezTo>
                  <a:lnTo>
                    <a:pt x="90729" y="2209497"/>
                  </a:lnTo>
                  <a:cubicBezTo>
                    <a:pt x="40621" y="2209497"/>
                    <a:pt x="0" y="2168876"/>
                    <a:pt x="0" y="2118768"/>
                  </a:cubicBezTo>
                  <a:lnTo>
                    <a:pt x="0" y="90729"/>
                  </a:lnTo>
                  <a:cubicBezTo>
                    <a:pt x="0" y="40621"/>
                    <a:pt x="40621" y="0"/>
                    <a:pt x="907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146168" cy="2285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4763" y="3003717"/>
            <a:ext cx="3619500" cy="5326271"/>
            <a:chOff x="0" y="0"/>
            <a:chExt cx="953284" cy="14028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3284" cy="1402804"/>
            </a:xfrm>
            <a:custGeom>
              <a:avLst/>
              <a:gdLst/>
              <a:ahLst/>
              <a:cxnLst/>
              <a:rect r="r" b="b" t="t" l="l"/>
              <a:pathLst>
                <a:path h="1402804" w="953284">
                  <a:moveTo>
                    <a:pt x="109086" y="0"/>
                  </a:moveTo>
                  <a:lnTo>
                    <a:pt x="844198" y="0"/>
                  </a:lnTo>
                  <a:cubicBezTo>
                    <a:pt x="873129" y="0"/>
                    <a:pt x="900876" y="11493"/>
                    <a:pt x="921333" y="31951"/>
                  </a:cubicBezTo>
                  <a:cubicBezTo>
                    <a:pt x="941791" y="52408"/>
                    <a:pt x="953284" y="80155"/>
                    <a:pt x="953284" y="109086"/>
                  </a:cubicBezTo>
                  <a:lnTo>
                    <a:pt x="953284" y="1293718"/>
                  </a:lnTo>
                  <a:cubicBezTo>
                    <a:pt x="953284" y="1322649"/>
                    <a:pt x="941791" y="1350396"/>
                    <a:pt x="921333" y="1370853"/>
                  </a:cubicBezTo>
                  <a:cubicBezTo>
                    <a:pt x="900876" y="1391311"/>
                    <a:pt x="873129" y="1402804"/>
                    <a:pt x="844198" y="1402804"/>
                  </a:cubicBezTo>
                  <a:lnTo>
                    <a:pt x="109086" y="1402804"/>
                  </a:lnTo>
                  <a:cubicBezTo>
                    <a:pt x="80155" y="1402804"/>
                    <a:pt x="52408" y="1391311"/>
                    <a:pt x="31951" y="1370853"/>
                  </a:cubicBezTo>
                  <a:cubicBezTo>
                    <a:pt x="11493" y="1350396"/>
                    <a:pt x="0" y="1322649"/>
                    <a:pt x="0" y="1293718"/>
                  </a:cubicBezTo>
                  <a:lnTo>
                    <a:pt x="0" y="109086"/>
                  </a:lnTo>
                  <a:cubicBezTo>
                    <a:pt x="0" y="80155"/>
                    <a:pt x="11493" y="52408"/>
                    <a:pt x="31951" y="31951"/>
                  </a:cubicBezTo>
                  <a:cubicBezTo>
                    <a:pt x="52408" y="11493"/>
                    <a:pt x="80155" y="0"/>
                    <a:pt x="109086" y="0"/>
                  </a:cubicBezTo>
                  <a:close/>
                </a:path>
              </a:pathLst>
            </a:custGeom>
            <a:solidFill>
              <a:srgbClr val="F7E1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953284" cy="147900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500"/>
                </a:lnSpc>
              </a:pPr>
            </a:p>
            <a:p>
              <a:pPr algn="l">
                <a:lnSpc>
                  <a:spcPts val="3500"/>
                </a:lnSpc>
              </a:pPr>
              <a:r>
                <a:rPr lang="en-US" sz="2500" b="true">
                  <a:solidFill>
                    <a:srgbClr val="7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</a:t>
              </a: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도입 전</a:t>
              </a:r>
            </a:p>
            <a:p>
              <a:pPr algn="l">
                <a:lnSpc>
                  <a:spcPts val="3500"/>
                </a:lnSpc>
              </a:pP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회의록과 발언 영상 </a:t>
              </a: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따로 제공</a:t>
              </a:r>
            </a:p>
            <a:p>
              <a:pPr algn="l">
                <a:lnSpc>
                  <a:spcPts val="3000"/>
                </a:lnSpc>
              </a:pP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발화 시점과 자막이</a:t>
              </a: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맞지 않음</a:t>
              </a:r>
            </a:p>
            <a:p>
              <a:pPr algn="l">
                <a:lnSpc>
                  <a:spcPts val="3000"/>
                </a:lnSpc>
              </a:pP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오탈자 약 40%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618360" y="5422676"/>
            <a:ext cx="318491" cy="488353"/>
          </a:xfrm>
          <a:custGeom>
            <a:avLst/>
            <a:gdLst/>
            <a:ahLst/>
            <a:cxnLst/>
            <a:rect r="r" b="b" t="t" l="l"/>
            <a:pathLst>
              <a:path h="488353" w="318491">
                <a:moveTo>
                  <a:pt x="0" y="0"/>
                </a:moveTo>
                <a:lnTo>
                  <a:pt x="318491" y="0"/>
                </a:lnTo>
                <a:lnTo>
                  <a:pt x="318491" y="488353"/>
                </a:lnTo>
                <a:lnTo>
                  <a:pt x="0" y="48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01803" y="3229452"/>
            <a:ext cx="1572711" cy="571373"/>
            <a:chOff x="0" y="0"/>
            <a:chExt cx="414212" cy="1504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4212" cy="150485"/>
            </a:xfrm>
            <a:custGeom>
              <a:avLst/>
              <a:gdLst/>
              <a:ahLst/>
              <a:cxnLst/>
              <a:rect r="r" b="b" t="t" l="l"/>
              <a:pathLst>
                <a:path h="150485" w="414212">
                  <a:moveTo>
                    <a:pt x="75243" y="0"/>
                  </a:moveTo>
                  <a:lnTo>
                    <a:pt x="338969" y="0"/>
                  </a:lnTo>
                  <a:cubicBezTo>
                    <a:pt x="358925" y="0"/>
                    <a:pt x="378063" y="7927"/>
                    <a:pt x="392174" y="22038"/>
                  </a:cubicBezTo>
                  <a:cubicBezTo>
                    <a:pt x="406285" y="36149"/>
                    <a:pt x="414212" y="55287"/>
                    <a:pt x="414212" y="75243"/>
                  </a:cubicBezTo>
                  <a:lnTo>
                    <a:pt x="414212" y="75243"/>
                  </a:lnTo>
                  <a:cubicBezTo>
                    <a:pt x="414212" y="95198"/>
                    <a:pt x="406285" y="114336"/>
                    <a:pt x="392174" y="128447"/>
                  </a:cubicBezTo>
                  <a:cubicBezTo>
                    <a:pt x="378063" y="142558"/>
                    <a:pt x="358925" y="150485"/>
                    <a:pt x="338969" y="150485"/>
                  </a:cubicBezTo>
                  <a:lnTo>
                    <a:pt x="75243" y="150485"/>
                  </a:lnTo>
                  <a:cubicBezTo>
                    <a:pt x="55287" y="150485"/>
                    <a:pt x="36149" y="142558"/>
                    <a:pt x="22038" y="128447"/>
                  </a:cubicBezTo>
                  <a:cubicBezTo>
                    <a:pt x="7927" y="114336"/>
                    <a:pt x="0" y="95198"/>
                    <a:pt x="0" y="75243"/>
                  </a:cubicBezTo>
                  <a:lnTo>
                    <a:pt x="0" y="75243"/>
                  </a:lnTo>
                  <a:cubicBezTo>
                    <a:pt x="0" y="55287"/>
                    <a:pt x="7927" y="36149"/>
                    <a:pt x="22038" y="22038"/>
                  </a:cubicBezTo>
                  <a:cubicBezTo>
                    <a:pt x="36149" y="7927"/>
                    <a:pt x="55287" y="0"/>
                    <a:pt x="752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14212" cy="217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2017~2018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87541" y="3003717"/>
            <a:ext cx="3619500" cy="5326271"/>
            <a:chOff x="0" y="0"/>
            <a:chExt cx="953284" cy="14028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3284" cy="1402804"/>
            </a:xfrm>
            <a:custGeom>
              <a:avLst/>
              <a:gdLst/>
              <a:ahLst/>
              <a:cxnLst/>
              <a:rect r="r" b="b" t="t" l="l"/>
              <a:pathLst>
                <a:path h="1402804" w="953284">
                  <a:moveTo>
                    <a:pt x="109086" y="0"/>
                  </a:moveTo>
                  <a:lnTo>
                    <a:pt x="844198" y="0"/>
                  </a:lnTo>
                  <a:cubicBezTo>
                    <a:pt x="873129" y="0"/>
                    <a:pt x="900876" y="11493"/>
                    <a:pt x="921333" y="31951"/>
                  </a:cubicBezTo>
                  <a:cubicBezTo>
                    <a:pt x="941791" y="52408"/>
                    <a:pt x="953284" y="80155"/>
                    <a:pt x="953284" y="109086"/>
                  </a:cubicBezTo>
                  <a:lnTo>
                    <a:pt x="953284" y="1293718"/>
                  </a:lnTo>
                  <a:cubicBezTo>
                    <a:pt x="953284" y="1322649"/>
                    <a:pt x="941791" y="1350396"/>
                    <a:pt x="921333" y="1370853"/>
                  </a:cubicBezTo>
                  <a:cubicBezTo>
                    <a:pt x="900876" y="1391311"/>
                    <a:pt x="873129" y="1402804"/>
                    <a:pt x="844198" y="1402804"/>
                  </a:cubicBezTo>
                  <a:lnTo>
                    <a:pt x="109086" y="1402804"/>
                  </a:lnTo>
                  <a:cubicBezTo>
                    <a:pt x="80155" y="1402804"/>
                    <a:pt x="52408" y="1391311"/>
                    <a:pt x="31951" y="1370853"/>
                  </a:cubicBezTo>
                  <a:cubicBezTo>
                    <a:pt x="11493" y="1350396"/>
                    <a:pt x="0" y="1322649"/>
                    <a:pt x="0" y="1293718"/>
                  </a:cubicBezTo>
                  <a:lnTo>
                    <a:pt x="0" y="109086"/>
                  </a:lnTo>
                  <a:cubicBezTo>
                    <a:pt x="0" y="80155"/>
                    <a:pt x="11493" y="52408"/>
                    <a:pt x="31951" y="31951"/>
                  </a:cubicBezTo>
                  <a:cubicBezTo>
                    <a:pt x="52408" y="11493"/>
                    <a:pt x="80155" y="0"/>
                    <a:pt x="109086" y="0"/>
                  </a:cubicBezTo>
                  <a:close/>
                </a:path>
              </a:pathLst>
            </a:custGeom>
            <a:solidFill>
              <a:srgbClr val="E57A6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953284" cy="147900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500"/>
                </a:lnSpc>
              </a:pPr>
            </a:p>
            <a:p>
              <a:pPr algn="l">
                <a:lnSpc>
                  <a:spcPts val="3500"/>
                </a:lnSpc>
              </a:pPr>
              <a:r>
                <a:rPr lang="en-US" sz="2500" b="true">
                  <a:solidFill>
                    <a:srgbClr val="7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회의록 기반 싱크</a:t>
              </a:r>
            </a:p>
            <a:p>
              <a:pPr algn="l">
                <a:lnSpc>
                  <a:spcPts val="3500"/>
                </a:lnSpc>
              </a:pP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문서 회의록 기준</a:t>
              </a: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싱크 포인트를 잡음</a:t>
              </a:r>
            </a:p>
            <a:p>
              <a:pPr algn="l">
                <a:lnSpc>
                  <a:spcPts val="3000"/>
                </a:lnSpc>
              </a:pP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회의록 문장과 음성인식을 맞춰 자막 생성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841138" y="5422676"/>
            <a:ext cx="318491" cy="488353"/>
          </a:xfrm>
          <a:custGeom>
            <a:avLst/>
            <a:gdLst/>
            <a:ahLst/>
            <a:cxnLst/>
            <a:rect r="r" b="b" t="t" l="l"/>
            <a:pathLst>
              <a:path h="488353" w="318491">
                <a:moveTo>
                  <a:pt x="0" y="0"/>
                </a:moveTo>
                <a:lnTo>
                  <a:pt x="318491" y="0"/>
                </a:lnTo>
                <a:lnTo>
                  <a:pt x="318491" y="488353"/>
                </a:lnTo>
                <a:lnTo>
                  <a:pt x="0" y="48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438731" y="3229452"/>
            <a:ext cx="1572711" cy="571373"/>
            <a:chOff x="0" y="0"/>
            <a:chExt cx="414212" cy="1504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4212" cy="150485"/>
            </a:xfrm>
            <a:custGeom>
              <a:avLst/>
              <a:gdLst/>
              <a:ahLst/>
              <a:cxnLst/>
              <a:rect r="r" b="b" t="t" l="l"/>
              <a:pathLst>
                <a:path h="150485" w="414212">
                  <a:moveTo>
                    <a:pt x="75243" y="0"/>
                  </a:moveTo>
                  <a:lnTo>
                    <a:pt x="338969" y="0"/>
                  </a:lnTo>
                  <a:cubicBezTo>
                    <a:pt x="358925" y="0"/>
                    <a:pt x="378063" y="7927"/>
                    <a:pt x="392174" y="22038"/>
                  </a:cubicBezTo>
                  <a:cubicBezTo>
                    <a:pt x="406285" y="36149"/>
                    <a:pt x="414212" y="55287"/>
                    <a:pt x="414212" y="75243"/>
                  </a:cubicBezTo>
                  <a:lnTo>
                    <a:pt x="414212" y="75243"/>
                  </a:lnTo>
                  <a:cubicBezTo>
                    <a:pt x="414212" y="95198"/>
                    <a:pt x="406285" y="114336"/>
                    <a:pt x="392174" y="128447"/>
                  </a:cubicBezTo>
                  <a:cubicBezTo>
                    <a:pt x="378063" y="142558"/>
                    <a:pt x="358925" y="150485"/>
                    <a:pt x="338969" y="150485"/>
                  </a:cubicBezTo>
                  <a:lnTo>
                    <a:pt x="75243" y="150485"/>
                  </a:lnTo>
                  <a:cubicBezTo>
                    <a:pt x="55287" y="150485"/>
                    <a:pt x="36149" y="142558"/>
                    <a:pt x="22038" y="128447"/>
                  </a:cubicBezTo>
                  <a:cubicBezTo>
                    <a:pt x="7927" y="114336"/>
                    <a:pt x="0" y="95198"/>
                    <a:pt x="0" y="75243"/>
                  </a:cubicBezTo>
                  <a:lnTo>
                    <a:pt x="0" y="75243"/>
                  </a:lnTo>
                  <a:cubicBezTo>
                    <a:pt x="0" y="55287"/>
                    <a:pt x="7927" y="36149"/>
                    <a:pt x="22038" y="22038"/>
                  </a:cubicBezTo>
                  <a:cubicBezTo>
                    <a:pt x="36149" y="7927"/>
                    <a:pt x="55287" y="0"/>
                    <a:pt x="752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14212" cy="217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2018.9.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10319" y="3003717"/>
            <a:ext cx="3619500" cy="5326271"/>
            <a:chOff x="0" y="0"/>
            <a:chExt cx="953284" cy="14028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3284" cy="1402804"/>
            </a:xfrm>
            <a:custGeom>
              <a:avLst/>
              <a:gdLst/>
              <a:ahLst/>
              <a:cxnLst/>
              <a:rect r="r" b="b" t="t" l="l"/>
              <a:pathLst>
                <a:path h="1402804" w="953284">
                  <a:moveTo>
                    <a:pt x="109086" y="0"/>
                  </a:moveTo>
                  <a:lnTo>
                    <a:pt x="844198" y="0"/>
                  </a:lnTo>
                  <a:cubicBezTo>
                    <a:pt x="873129" y="0"/>
                    <a:pt x="900876" y="11493"/>
                    <a:pt x="921333" y="31951"/>
                  </a:cubicBezTo>
                  <a:cubicBezTo>
                    <a:pt x="941791" y="52408"/>
                    <a:pt x="953284" y="80155"/>
                    <a:pt x="953284" y="109086"/>
                  </a:cubicBezTo>
                  <a:lnTo>
                    <a:pt x="953284" y="1293718"/>
                  </a:lnTo>
                  <a:cubicBezTo>
                    <a:pt x="953284" y="1322649"/>
                    <a:pt x="941791" y="1350396"/>
                    <a:pt x="921333" y="1370853"/>
                  </a:cubicBezTo>
                  <a:cubicBezTo>
                    <a:pt x="900876" y="1391311"/>
                    <a:pt x="873129" y="1402804"/>
                    <a:pt x="844198" y="1402804"/>
                  </a:cubicBezTo>
                  <a:lnTo>
                    <a:pt x="109086" y="1402804"/>
                  </a:lnTo>
                  <a:cubicBezTo>
                    <a:pt x="80155" y="1402804"/>
                    <a:pt x="52408" y="1391311"/>
                    <a:pt x="31951" y="1370853"/>
                  </a:cubicBezTo>
                  <a:cubicBezTo>
                    <a:pt x="11493" y="1350396"/>
                    <a:pt x="0" y="1322649"/>
                    <a:pt x="0" y="1293718"/>
                  </a:cubicBezTo>
                  <a:lnTo>
                    <a:pt x="0" y="109086"/>
                  </a:lnTo>
                  <a:cubicBezTo>
                    <a:pt x="0" y="80155"/>
                    <a:pt x="11493" y="52408"/>
                    <a:pt x="31951" y="31951"/>
                  </a:cubicBezTo>
                  <a:cubicBezTo>
                    <a:pt x="52408" y="11493"/>
                    <a:pt x="80155" y="0"/>
                    <a:pt x="109086" y="0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953284" cy="147900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500"/>
                </a:lnSpc>
              </a:pPr>
            </a:p>
            <a:p>
              <a:pPr algn="l">
                <a:lnSpc>
                  <a:spcPts val="3500"/>
                </a:lnSpc>
              </a:pPr>
              <a:r>
                <a:rPr lang="en-US" sz="2500" b="true">
                  <a:solidFill>
                    <a:srgbClr val="7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7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생중계 자막</a:t>
              </a:r>
            </a:p>
            <a:p>
              <a:pPr algn="l">
                <a:lnSpc>
                  <a:spcPts val="3500"/>
                </a:lnSpc>
              </a:pP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ETRI 종단형 AI</a:t>
              </a: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음성인식 엔진 적용</a:t>
              </a:r>
            </a:p>
            <a:p>
              <a:pPr algn="l">
                <a:lnSpc>
                  <a:spcPts val="3000"/>
                </a:lnSpc>
              </a:pP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발성 후 1~2초 안에</a:t>
              </a: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자막 표시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59541" y="3229452"/>
            <a:ext cx="1572711" cy="571373"/>
            <a:chOff x="0" y="0"/>
            <a:chExt cx="414212" cy="1504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4212" cy="150485"/>
            </a:xfrm>
            <a:custGeom>
              <a:avLst/>
              <a:gdLst/>
              <a:ahLst/>
              <a:cxnLst/>
              <a:rect r="r" b="b" t="t" l="l"/>
              <a:pathLst>
                <a:path h="150485" w="414212">
                  <a:moveTo>
                    <a:pt x="75243" y="0"/>
                  </a:moveTo>
                  <a:lnTo>
                    <a:pt x="338969" y="0"/>
                  </a:lnTo>
                  <a:cubicBezTo>
                    <a:pt x="358925" y="0"/>
                    <a:pt x="378063" y="7927"/>
                    <a:pt x="392174" y="22038"/>
                  </a:cubicBezTo>
                  <a:cubicBezTo>
                    <a:pt x="406285" y="36149"/>
                    <a:pt x="414212" y="55287"/>
                    <a:pt x="414212" y="75243"/>
                  </a:cubicBezTo>
                  <a:lnTo>
                    <a:pt x="414212" y="75243"/>
                  </a:lnTo>
                  <a:cubicBezTo>
                    <a:pt x="414212" y="95198"/>
                    <a:pt x="406285" y="114336"/>
                    <a:pt x="392174" y="128447"/>
                  </a:cubicBezTo>
                  <a:cubicBezTo>
                    <a:pt x="378063" y="142558"/>
                    <a:pt x="358925" y="150485"/>
                    <a:pt x="338969" y="150485"/>
                  </a:cubicBezTo>
                  <a:lnTo>
                    <a:pt x="75243" y="150485"/>
                  </a:lnTo>
                  <a:cubicBezTo>
                    <a:pt x="55287" y="150485"/>
                    <a:pt x="36149" y="142558"/>
                    <a:pt x="22038" y="128447"/>
                  </a:cubicBezTo>
                  <a:cubicBezTo>
                    <a:pt x="7927" y="114336"/>
                    <a:pt x="0" y="95198"/>
                    <a:pt x="0" y="75243"/>
                  </a:cubicBezTo>
                  <a:lnTo>
                    <a:pt x="0" y="75243"/>
                  </a:lnTo>
                  <a:cubicBezTo>
                    <a:pt x="0" y="55287"/>
                    <a:pt x="7927" y="36149"/>
                    <a:pt x="22038" y="22038"/>
                  </a:cubicBezTo>
                  <a:cubicBezTo>
                    <a:pt x="36149" y="7927"/>
                    <a:pt x="55287" y="0"/>
                    <a:pt x="752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414212" cy="217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2023.2.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810609" y="1328969"/>
            <a:ext cx="617860" cy="624564"/>
          </a:xfrm>
          <a:custGeom>
            <a:avLst/>
            <a:gdLst/>
            <a:ahLst/>
            <a:cxnLst/>
            <a:rect r="r" b="b" t="t" l="l"/>
            <a:pathLst>
              <a:path h="624564" w="617860">
                <a:moveTo>
                  <a:pt x="0" y="0"/>
                </a:moveTo>
                <a:lnTo>
                  <a:pt x="617860" y="0"/>
                </a:lnTo>
                <a:lnTo>
                  <a:pt x="617860" y="624564"/>
                </a:lnTo>
                <a:lnTo>
                  <a:pt x="0" y="624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4343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87625" y="369853"/>
            <a:ext cx="6114863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 추진 배경  ·  선행기술 및 사례 분석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897267" y="9574489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1314563"/>
            <a:ext cx="428714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CC0000"/>
                </a:solidFill>
                <a:latin typeface="Poppins Bold"/>
                <a:ea typeface="Poppins Bold"/>
                <a:cs typeface="Poppins Bold"/>
                <a:sym typeface="Poppins Bold"/>
              </a:rPr>
              <a:t>국회 인터넷의사중계시스템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85619" y="1377726"/>
            <a:ext cx="123572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중요한 점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85619" y="2708705"/>
            <a:ext cx="3312785" cy="546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미리 만든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텍스트에 음성을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맞추는 방식이 </a:t>
            </a: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이미 실제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서비스에 사용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대본 이탈 감지와 복귀 큐 표시는 국회 사례에 없으므로 </a:t>
            </a: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HELPER가 추가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ETRI 한국어 음성인식(AI OPEN API)을</a:t>
            </a: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음성인식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비교 후보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에 추가해 검토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3907032" y="3064289"/>
            <a:ext cx="32638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CC00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07032" y="4971826"/>
            <a:ext cx="388293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CC00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07032" y="6880001"/>
            <a:ext cx="399157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CC00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103274" y="501615"/>
            <a:ext cx="15346441" cy="952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55712" y="1256340"/>
            <a:ext cx="5356420" cy="5032795"/>
            <a:chOff x="0" y="0"/>
            <a:chExt cx="1410744" cy="13255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0744" cy="1325510"/>
            </a:xfrm>
            <a:custGeom>
              <a:avLst/>
              <a:gdLst/>
              <a:ahLst/>
              <a:cxnLst/>
              <a:rect r="r" b="b" t="t" l="l"/>
              <a:pathLst>
                <a:path h="1325510" w="1410744">
                  <a:moveTo>
                    <a:pt x="73713" y="0"/>
                  </a:moveTo>
                  <a:lnTo>
                    <a:pt x="1337031" y="0"/>
                  </a:lnTo>
                  <a:cubicBezTo>
                    <a:pt x="1377742" y="0"/>
                    <a:pt x="1410744" y="33002"/>
                    <a:pt x="1410744" y="73713"/>
                  </a:cubicBezTo>
                  <a:lnTo>
                    <a:pt x="1410744" y="1251797"/>
                  </a:lnTo>
                  <a:cubicBezTo>
                    <a:pt x="1410744" y="1271347"/>
                    <a:pt x="1402978" y="1290096"/>
                    <a:pt x="1389154" y="1303920"/>
                  </a:cubicBezTo>
                  <a:cubicBezTo>
                    <a:pt x="1375330" y="1317744"/>
                    <a:pt x="1356581" y="1325510"/>
                    <a:pt x="1337031" y="1325510"/>
                  </a:cubicBezTo>
                  <a:lnTo>
                    <a:pt x="73713" y="1325510"/>
                  </a:lnTo>
                  <a:cubicBezTo>
                    <a:pt x="33002" y="1325510"/>
                    <a:pt x="0" y="1292507"/>
                    <a:pt x="0" y="1251797"/>
                  </a:cubicBezTo>
                  <a:lnTo>
                    <a:pt x="0" y="73713"/>
                  </a:lnTo>
                  <a:cubicBezTo>
                    <a:pt x="0" y="33002"/>
                    <a:pt x="33002" y="0"/>
                    <a:pt x="73713" y="0"/>
                  </a:cubicBezTo>
                  <a:close/>
                </a:path>
              </a:pathLst>
            </a:custGeom>
            <a:solidFill>
              <a:srgbClr val="B43231"/>
            </a:solidFill>
            <a:ln w="38100" cap="rnd">
              <a:solidFill>
                <a:srgbClr val="FF282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410744" cy="1296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99369" y="1256340"/>
            <a:ext cx="4889261" cy="4708945"/>
            <a:chOff x="0" y="0"/>
            <a:chExt cx="1287707" cy="1240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7707" cy="1240216"/>
            </a:xfrm>
            <a:custGeom>
              <a:avLst/>
              <a:gdLst/>
              <a:ahLst/>
              <a:cxnLst/>
              <a:rect r="r" b="b" t="t" l="l"/>
              <a:pathLst>
                <a:path h="1240216" w="1287707">
                  <a:moveTo>
                    <a:pt x="80756" y="0"/>
                  </a:moveTo>
                  <a:lnTo>
                    <a:pt x="1206951" y="0"/>
                  </a:lnTo>
                  <a:cubicBezTo>
                    <a:pt x="1251551" y="0"/>
                    <a:pt x="1287707" y="36156"/>
                    <a:pt x="1287707" y="80756"/>
                  </a:cubicBezTo>
                  <a:lnTo>
                    <a:pt x="1287707" y="1159460"/>
                  </a:lnTo>
                  <a:cubicBezTo>
                    <a:pt x="1287707" y="1204060"/>
                    <a:pt x="1251551" y="1240216"/>
                    <a:pt x="1206951" y="1240216"/>
                  </a:cubicBezTo>
                  <a:lnTo>
                    <a:pt x="80756" y="1240216"/>
                  </a:lnTo>
                  <a:cubicBezTo>
                    <a:pt x="36156" y="1240216"/>
                    <a:pt x="0" y="1204060"/>
                    <a:pt x="0" y="1159460"/>
                  </a:cubicBezTo>
                  <a:lnTo>
                    <a:pt x="0" y="80756"/>
                  </a:lnTo>
                  <a:cubicBezTo>
                    <a:pt x="0" y="36156"/>
                    <a:pt x="36156" y="0"/>
                    <a:pt x="80756" y="0"/>
                  </a:cubicBezTo>
                  <a:close/>
                </a:path>
              </a:pathLst>
            </a:custGeom>
            <a:solidFill>
              <a:srgbClr val="B43231"/>
            </a:solidFill>
            <a:ln w="38100" cap="rnd">
              <a:solidFill>
                <a:srgbClr val="8D0C0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287707" cy="121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45906" y="1256340"/>
            <a:ext cx="4889261" cy="4708945"/>
            <a:chOff x="0" y="0"/>
            <a:chExt cx="1287707" cy="1240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7707" cy="1240216"/>
            </a:xfrm>
            <a:custGeom>
              <a:avLst/>
              <a:gdLst/>
              <a:ahLst/>
              <a:cxnLst/>
              <a:rect r="r" b="b" t="t" l="l"/>
              <a:pathLst>
                <a:path h="1240216" w="1287707">
                  <a:moveTo>
                    <a:pt x="80756" y="0"/>
                  </a:moveTo>
                  <a:lnTo>
                    <a:pt x="1206951" y="0"/>
                  </a:lnTo>
                  <a:cubicBezTo>
                    <a:pt x="1251551" y="0"/>
                    <a:pt x="1287707" y="36156"/>
                    <a:pt x="1287707" y="80756"/>
                  </a:cubicBezTo>
                  <a:lnTo>
                    <a:pt x="1287707" y="1159460"/>
                  </a:lnTo>
                  <a:cubicBezTo>
                    <a:pt x="1287707" y="1204060"/>
                    <a:pt x="1251551" y="1240216"/>
                    <a:pt x="1206951" y="1240216"/>
                  </a:cubicBezTo>
                  <a:lnTo>
                    <a:pt x="80756" y="1240216"/>
                  </a:lnTo>
                  <a:cubicBezTo>
                    <a:pt x="36156" y="1240216"/>
                    <a:pt x="0" y="1204060"/>
                    <a:pt x="0" y="1159460"/>
                  </a:cubicBezTo>
                  <a:lnTo>
                    <a:pt x="0" y="80756"/>
                  </a:lnTo>
                  <a:cubicBezTo>
                    <a:pt x="0" y="36156"/>
                    <a:pt x="36156" y="0"/>
                    <a:pt x="80756" y="0"/>
                  </a:cubicBezTo>
                  <a:close/>
                </a:path>
              </a:pathLst>
            </a:custGeom>
            <a:solidFill>
              <a:srgbClr val="B43231"/>
            </a:solidFill>
            <a:ln w="38100" cap="rnd">
              <a:solidFill>
                <a:srgbClr val="FFFFFF"/>
              </a:solidFill>
              <a:prstDash val="dash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287707" cy="121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7175" y="1351590"/>
            <a:ext cx="1169279" cy="747389"/>
            <a:chOff x="0" y="0"/>
            <a:chExt cx="1271614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1614" cy="812800"/>
            </a:xfrm>
            <a:custGeom>
              <a:avLst/>
              <a:gdLst/>
              <a:ahLst/>
              <a:cxnLst/>
              <a:rect r="r" b="b" t="t" l="l"/>
              <a:pathLst>
                <a:path h="812800" w="1271614">
                  <a:moveTo>
                    <a:pt x="635807" y="0"/>
                  </a:moveTo>
                  <a:cubicBezTo>
                    <a:pt x="284661" y="0"/>
                    <a:pt x="0" y="181951"/>
                    <a:pt x="0" y="406400"/>
                  </a:cubicBezTo>
                  <a:cubicBezTo>
                    <a:pt x="0" y="630849"/>
                    <a:pt x="284661" y="812800"/>
                    <a:pt x="635807" y="812800"/>
                  </a:cubicBezTo>
                  <a:cubicBezTo>
                    <a:pt x="986954" y="812800"/>
                    <a:pt x="1271614" y="630849"/>
                    <a:pt x="1271614" y="406400"/>
                  </a:cubicBezTo>
                  <a:cubicBezTo>
                    <a:pt x="1271614" y="181951"/>
                    <a:pt x="986954" y="0"/>
                    <a:pt x="635807" y="0"/>
                  </a:cubicBezTo>
                  <a:close/>
                </a:path>
              </a:pathLst>
            </a:custGeom>
            <a:solidFill>
              <a:srgbClr val="8D0C0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9214" y="123825"/>
              <a:ext cx="1033187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  <a:r>
                <a:rPr lang="en-US" sz="2500">
                  <a:solidFill>
                    <a:srgbClr val="FFFFFF"/>
                  </a:solidFill>
                  <a:latin typeface="TDTD가시고딕"/>
                  <a:ea typeface="TDTD가시고딕"/>
                  <a:cs typeface="TDTD가시고딕"/>
                  <a:sym typeface="TDTD가시고딕"/>
                </a:rPr>
                <a:t>MVP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36244" y="1375703"/>
            <a:ext cx="2226007" cy="747389"/>
            <a:chOff x="0" y="0"/>
            <a:chExt cx="2420826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20826" cy="812800"/>
            </a:xfrm>
            <a:custGeom>
              <a:avLst/>
              <a:gdLst/>
              <a:ahLst/>
              <a:cxnLst/>
              <a:rect r="r" b="b" t="t" l="l"/>
              <a:pathLst>
                <a:path h="812800" w="2420826">
                  <a:moveTo>
                    <a:pt x="1210413" y="0"/>
                  </a:moveTo>
                  <a:cubicBezTo>
                    <a:pt x="541920" y="0"/>
                    <a:pt x="0" y="181951"/>
                    <a:pt x="0" y="406400"/>
                  </a:cubicBezTo>
                  <a:cubicBezTo>
                    <a:pt x="0" y="630849"/>
                    <a:pt x="541920" y="812800"/>
                    <a:pt x="1210413" y="812800"/>
                  </a:cubicBezTo>
                  <a:cubicBezTo>
                    <a:pt x="1878906" y="812800"/>
                    <a:pt x="2420826" y="630849"/>
                    <a:pt x="2420826" y="406400"/>
                  </a:cubicBezTo>
                  <a:cubicBezTo>
                    <a:pt x="2420826" y="181951"/>
                    <a:pt x="1878906" y="0"/>
                    <a:pt x="1210413" y="0"/>
                  </a:cubicBezTo>
                  <a:close/>
                </a:path>
              </a:pathLst>
            </a:custGeom>
            <a:solidFill>
              <a:srgbClr val="8D0C0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26952" y="123825"/>
              <a:ext cx="1966921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  <a:r>
                <a:rPr lang="en-US" sz="2500">
                  <a:solidFill>
                    <a:srgbClr val="FFFFFF"/>
                  </a:solidFill>
                  <a:latin typeface="TDTD가시고딕"/>
                  <a:ea typeface="TDTD가시고딕"/>
                  <a:cs typeface="TDTD가시고딕"/>
                  <a:sym typeface="TDTD가시고딕"/>
                </a:rPr>
                <a:t>조건부 확장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51845" y="1406655"/>
            <a:ext cx="1989002" cy="747389"/>
            <a:chOff x="0" y="0"/>
            <a:chExt cx="2163079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63079" cy="812800"/>
            </a:xfrm>
            <a:custGeom>
              <a:avLst/>
              <a:gdLst/>
              <a:ahLst/>
              <a:cxnLst/>
              <a:rect r="r" b="b" t="t" l="l"/>
              <a:pathLst>
                <a:path h="812800" w="2163079">
                  <a:moveTo>
                    <a:pt x="1081539" y="0"/>
                  </a:moveTo>
                  <a:cubicBezTo>
                    <a:pt x="484222" y="0"/>
                    <a:pt x="0" y="181951"/>
                    <a:pt x="0" y="406400"/>
                  </a:cubicBezTo>
                  <a:cubicBezTo>
                    <a:pt x="0" y="630849"/>
                    <a:pt x="484222" y="812800"/>
                    <a:pt x="1081539" y="812800"/>
                  </a:cubicBezTo>
                  <a:cubicBezTo>
                    <a:pt x="1678857" y="812800"/>
                    <a:pt x="2163079" y="630849"/>
                    <a:pt x="2163079" y="406400"/>
                  </a:cubicBezTo>
                  <a:cubicBezTo>
                    <a:pt x="2163079" y="181951"/>
                    <a:pt x="1678857" y="0"/>
                    <a:pt x="1081539" y="0"/>
                  </a:cubicBezTo>
                  <a:close/>
                </a:path>
              </a:pathLst>
            </a:custGeom>
            <a:solidFill>
              <a:srgbClr val="8D0C0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02789" y="123825"/>
              <a:ext cx="1757501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  <a:r>
                <a:rPr lang="en-US" sz="2500">
                  <a:solidFill>
                    <a:srgbClr val="FFFFFF"/>
                  </a:solidFill>
                  <a:latin typeface="TDTD가시고딕"/>
                  <a:ea typeface="TDTD가시고딕"/>
                  <a:cs typeface="TDTD가시고딕"/>
                  <a:sym typeface="TDTD가시고딕"/>
                </a:rPr>
                <a:t>향후 확장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333125" y="6917785"/>
            <a:ext cx="20782840" cy="2702465"/>
            <a:chOff x="0" y="0"/>
            <a:chExt cx="5473670" cy="711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73670" cy="711760"/>
            </a:xfrm>
            <a:custGeom>
              <a:avLst/>
              <a:gdLst/>
              <a:ahLst/>
              <a:cxnLst/>
              <a:rect r="r" b="b" t="t" l="l"/>
              <a:pathLst>
                <a:path h="711760" w="5473670">
                  <a:moveTo>
                    <a:pt x="0" y="0"/>
                  </a:moveTo>
                  <a:lnTo>
                    <a:pt x="5473670" y="0"/>
                  </a:lnTo>
                  <a:lnTo>
                    <a:pt x="5473670" y="711760"/>
                  </a:lnTo>
                  <a:lnTo>
                    <a:pt x="0" y="711760"/>
                  </a:lnTo>
                  <a:close/>
                </a:path>
              </a:pathLst>
            </a:custGeom>
            <a:solidFill>
              <a:srgbClr val="E57A6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5473670" cy="683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70723" y="6481159"/>
            <a:ext cx="3375143" cy="816102"/>
            <a:chOff x="0" y="0"/>
            <a:chExt cx="888927" cy="214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8927" cy="214940"/>
            </a:xfrm>
            <a:custGeom>
              <a:avLst/>
              <a:gdLst/>
              <a:ahLst/>
              <a:cxnLst/>
              <a:rect r="r" b="b" t="t" l="l"/>
              <a:pathLst>
                <a:path h="214940" w="888927">
                  <a:moveTo>
                    <a:pt x="0" y="0"/>
                  </a:moveTo>
                  <a:lnTo>
                    <a:pt x="888927" y="0"/>
                  </a:lnTo>
                  <a:lnTo>
                    <a:pt x="888927" y="214940"/>
                  </a:lnTo>
                  <a:lnTo>
                    <a:pt x="0" y="214940"/>
                  </a:ln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888927" cy="176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0"/>
                </a:lnSpc>
              </a:pPr>
              <a:r>
                <a:rPr lang="en-US" b="true" sz="3000" i="true">
                  <a:solidFill>
                    <a:srgbClr val="FFFFFF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성공 기준 ( KPI )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5896532" y="7505538"/>
            <a:ext cx="19050" cy="1637351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555712" y="7785782"/>
            <a:ext cx="1076863" cy="1076863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3981" t="-26312" r="-28716" b="-2751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19089" y="7730586"/>
            <a:ext cx="1076863" cy="107686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8704" t="-34423" r="-31602" b="-2888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45906" y="7730586"/>
            <a:ext cx="1076863" cy="107686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5837" t="-9568" r="-16286" b="-1874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007574" y="3312637"/>
            <a:ext cx="596353" cy="596353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8D0C0B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27000"/>
              <a:ext cx="7112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19092" y="3312637"/>
            <a:ext cx="596353" cy="596353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8D0C0B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127000"/>
              <a:ext cx="7112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028700" y="2098979"/>
            <a:ext cx="4302841" cy="3426336"/>
          </a:xfrm>
          <a:custGeom>
            <a:avLst/>
            <a:gdLst/>
            <a:ahLst/>
            <a:cxnLst/>
            <a:rect r="r" b="b" t="t" l="l"/>
            <a:pathLst>
              <a:path h="3426336" w="4302841">
                <a:moveTo>
                  <a:pt x="0" y="0"/>
                </a:moveTo>
                <a:lnTo>
                  <a:pt x="4302841" y="0"/>
                </a:lnTo>
                <a:lnTo>
                  <a:pt x="4302841" y="3426336"/>
                </a:lnTo>
                <a:lnTo>
                  <a:pt x="0" y="3426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036244" y="2123092"/>
            <a:ext cx="4215511" cy="3025471"/>
          </a:xfrm>
          <a:custGeom>
            <a:avLst/>
            <a:gdLst/>
            <a:ahLst/>
            <a:cxnLst/>
            <a:rect r="r" b="b" t="t" l="l"/>
            <a:pathLst>
              <a:path h="3025471" w="4215511">
                <a:moveTo>
                  <a:pt x="0" y="0"/>
                </a:moveTo>
                <a:lnTo>
                  <a:pt x="4215512" y="0"/>
                </a:lnTo>
                <a:lnTo>
                  <a:pt x="4215512" y="3025470"/>
                </a:lnTo>
                <a:lnTo>
                  <a:pt x="0" y="30254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5608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004747" y="2154044"/>
            <a:ext cx="4171578" cy="3029642"/>
          </a:xfrm>
          <a:custGeom>
            <a:avLst/>
            <a:gdLst/>
            <a:ahLst/>
            <a:cxnLst/>
            <a:rect r="r" b="b" t="t" l="l"/>
            <a:pathLst>
              <a:path h="3029642" w="4171578">
                <a:moveTo>
                  <a:pt x="0" y="0"/>
                </a:moveTo>
                <a:lnTo>
                  <a:pt x="4171578" y="0"/>
                </a:lnTo>
                <a:lnTo>
                  <a:pt x="4171578" y="3029641"/>
                </a:lnTo>
                <a:lnTo>
                  <a:pt x="0" y="3029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793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01584" y="5724070"/>
            <a:ext cx="5102774" cy="27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현재 위치 추적 → 대본 이탈 감지 → 복귀 큐 표시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200544" y="5402316"/>
            <a:ext cx="4085313" cy="33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현재 송출 큐 ↔ AI 추정 큐 비교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00761" y="5409407"/>
            <a:ext cx="2617651" cy="33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선택 구간 자동 진행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73188" y="7543356"/>
            <a:ext cx="261491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위치 추정 정확도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925936" y="7529068"/>
            <a:ext cx="226471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복귀 표시 시간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056144" y="7548118"/>
            <a:ext cx="183319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사</a:t>
            </a: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용성 평가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2336537" y="1332750"/>
            <a:ext cx="2051561" cy="742798"/>
            <a:chOff x="0" y="0"/>
            <a:chExt cx="595926" cy="2155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5926" cy="215587"/>
            </a:xfrm>
            <a:custGeom>
              <a:avLst/>
              <a:gdLst/>
              <a:ahLst/>
              <a:cxnLst/>
              <a:rect r="r" b="b" t="t" l="l"/>
              <a:pathLst>
                <a:path h="215587" w="595926">
                  <a:moveTo>
                    <a:pt x="595926" y="107794"/>
                  </a:moveTo>
                  <a:lnTo>
                    <a:pt x="595926" y="107794"/>
                  </a:lnTo>
                  <a:cubicBezTo>
                    <a:pt x="595926" y="136382"/>
                    <a:pt x="584569" y="163800"/>
                    <a:pt x="564354" y="184015"/>
                  </a:cubicBezTo>
                  <a:cubicBezTo>
                    <a:pt x="544139" y="204231"/>
                    <a:pt x="516721" y="215587"/>
                    <a:pt x="488132" y="215587"/>
                  </a:cubicBezTo>
                  <a:lnTo>
                    <a:pt x="107794" y="215587"/>
                  </a:lnTo>
                  <a:cubicBezTo>
                    <a:pt x="48261" y="215587"/>
                    <a:pt x="0" y="167326"/>
                    <a:pt x="0" y="107794"/>
                  </a:cubicBezTo>
                  <a:lnTo>
                    <a:pt x="0" y="107794"/>
                  </a:lnTo>
                  <a:cubicBezTo>
                    <a:pt x="0" y="48261"/>
                    <a:pt x="48261" y="0"/>
                    <a:pt x="107794" y="0"/>
                  </a:cubicBezTo>
                  <a:lnTo>
                    <a:pt x="488132" y="0"/>
                  </a:lnTo>
                  <a:cubicBezTo>
                    <a:pt x="547665" y="0"/>
                    <a:pt x="595926" y="48261"/>
                    <a:pt x="595926" y="107794"/>
                  </a:cubicBezTo>
                  <a:close/>
                </a:path>
              </a:pathLst>
            </a:custGeom>
            <a:solidFill>
              <a:srgbClr val="FDF3EF"/>
            </a:solidFill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595926" cy="28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b="true" sz="2400">
                  <a:solidFill>
                    <a:srgbClr val="BB09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이</a:t>
              </a:r>
              <a:r>
                <a:rPr lang="en-US" b="true" sz="2400">
                  <a:solidFill>
                    <a:srgbClr val="BB09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번 학기 핵심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6032209" y="7673436"/>
            <a:ext cx="161701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DF3EF"/>
                </a:solidFill>
                <a:latin typeface="Poppins"/>
                <a:ea typeface="Poppins"/>
                <a:cs typeface="Poppins"/>
                <a:sym typeface="Poppins"/>
              </a:rPr>
              <a:t>SUS</a:t>
            </a:r>
            <a:r>
              <a:rPr lang="en-US" sz="2100">
                <a:solidFill>
                  <a:srgbClr val="FDF3EF"/>
                </a:solidFill>
                <a:latin typeface="Poppins"/>
                <a:ea typeface="Poppins"/>
                <a:cs typeface="Poppins"/>
                <a:sym typeface="Poppins"/>
              </a:rPr>
              <a:t> 평균 점수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89064" y="379378"/>
            <a:ext cx="6114863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 개발 목표  ·  최종 목표</a:t>
            </a:r>
          </a:p>
        </p:txBody>
      </p:sp>
      <p:sp>
        <p:nvSpPr>
          <p:cNvPr name="AutoShape 54" id="54"/>
          <p:cNvSpPr/>
          <p:nvPr/>
        </p:nvSpPr>
        <p:spPr>
          <a:xfrm>
            <a:off x="11943793" y="7495791"/>
            <a:ext cx="19050" cy="1637351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10912086" y="6579966"/>
            <a:ext cx="4828505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*목표치는</a:t>
            </a: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10월 기준선 측정 후 사회혁신가와 최종 확정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7906642" y="955357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026454" y="8081787"/>
            <a:ext cx="3500512" cy="70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CC0000"/>
                </a:solidFill>
                <a:latin typeface="Poppins Bold"/>
                <a:ea typeface="Poppins Bold"/>
                <a:cs typeface="Poppins Bold"/>
                <a:sym typeface="Poppins Bold"/>
              </a:rPr>
              <a:t>90%이상 (±1큐)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405577" y="8034162"/>
            <a:ext cx="2069827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CC0000"/>
                </a:solidFill>
                <a:latin typeface="Poppins Bold"/>
                <a:ea typeface="Poppins Bold"/>
                <a:cs typeface="Poppins Bold"/>
                <a:sym typeface="Poppins Bold"/>
              </a:rPr>
              <a:t>5초 이내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257545" y="8001777"/>
            <a:ext cx="3549328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CC0000"/>
                </a:solidFill>
                <a:latin typeface="Poppins Bold"/>
                <a:ea typeface="Poppins Bold"/>
                <a:cs typeface="Poppins Bold"/>
                <a:sym typeface="Poppins Bold"/>
              </a:rPr>
              <a:t>평균 70점 이상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37349" y="501615"/>
            <a:ext cx="1534644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207362" y="5070729"/>
            <a:ext cx="1534644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8848984" y="5070729"/>
            <a:ext cx="1534644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97150" y="5485932"/>
            <a:ext cx="7184726" cy="3934316"/>
            <a:chOff x="0" y="0"/>
            <a:chExt cx="1892274" cy="10361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2274" cy="1036198"/>
            </a:xfrm>
            <a:custGeom>
              <a:avLst/>
              <a:gdLst/>
              <a:ahLst/>
              <a:cxnLst/>
              <a:rect r="r" b="b" t="t" l="l"/>
              <a:pathLst>
                <a:path h="1036198" w="1892274">
                  <a:moveTo>
                    <a:pt x="54955" y="0"/>
                  </a:moveTo>
                  <a:lnTo>
                    <a:pt x="1837318" y="0"/>
                  </a:lnTo>
                  <a:cubicBezTo>
                    <a:pt x="1867669" y="0"/>
                    <a:pt x="1892274" y="24604"/>
                    <a:pt x="1892274" y="54955"/>
                  </a:cubicBezTo>
                  <a:lnTo>
                    <a:pt x="1892274" y="981243"/>
                  </a:lnTo>
                  <a:cubicBezTo>
                    <a:pt x="1892274" y="1011594"/>
                    <a:pt x="1867669" y="1036198"/>
                    <a:pt x="1837318" y="1036198"/>
                  </a:cubicBezTo>
                  <a:lnTo>
                    <a:pt x="54955" y="1036198"/>
                  </a:lnTo>
                  <a:cubicBezTo>
                    <a:pt x="40380" y="1036198"/>
                    <a:pt x="26402" y="1030409"/>
                    <a:pt x="16096" y="1020102"/>
                  </a:cubicBezTo>
                  <a:cubicBezTo>
                    <a:pt x="5790" y="1009796"/>
                    <a:pt x="0" y="995818"/>
                    <a:pt x="0" y="981243"/>
                  </a:cubicBezTo>
                  <a:lnTo>
                    <a:pt x="0" y="54955"/>
                  </a:lnTo>
                  <a:cubicBezTo>
                    <a:pt x="0" y="24604"/>
                    <a:pt x="24604" y="0"/>
                    <a:pt x="54955" y="0"/>
                  </a:cubicBezTo>
                  <a:close/>
                </a:path>
              </a:pathLst>
            </a:custGeom>
            <a:solidFill>
              <a:srgbClr val="CC0000"/>
            </a:solidFill>
            <a:ln w="19050" cap="rnd">
              <a:solidFill>
                <a:srgbClr val="CC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892274" cy="1112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7625" y="5343057"/>
            <a:ext cx="7194251" cy="689054"/>
            <a:chOff x="0" y="0"/>
            <a:chExt cx="1894782" cy="181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4782" cy="181479"/>
            </a:xfrm>
            <a:custGeom>
              <a:avLst/>
              <a:gdLst/>
              <a:ahLst/>
              <a:cxnLst/>
              <a:rect r="r" b="b" t="t" l="l"/>
              <a:pathLst>
                <a:path h="181479" w="1894782">
                  <a:moveTo>
                    <a:pt x="54882" y="0"/>
                  </a:moveTo>
                  <a:lnTo>
                    <a:pt x="1839900" y="0"/>
                  </a:lnTo>
                  <a:cubicBezTo>
                    <a:pt x="1870210" y="0"/>
                    <a:pt x="1894782" y="24572"/>
                    <a:pt x="1894782" y="54882"/>
                  </a:cubicBezTo>
                  <a:lnTo>
                    <a:pt x="1894782" y="126597"/>
                  </a:lnTo>
                  <a:cubicBezTo>
                    <a:pt x="1894782" y="141153"/>
                    <a:pt x="1889000" y="155112"/>
                    <a:pt x="1878708" y="165405"/>
                  </a:cubicBezTo>
                  <a:cubicBezTo>
                    <a:pt x="1868415" y="175697"/>
                    <a:pt x="1854456" y="181479"/>
                    <a:pt x="1839900" y="181479"/>
                  </a:cubicBezTo>
                  <a:lnTo>
                    <a:pt x="54882" y="181479"/>
                  </a:lnTo>
                  <a:cubicBezTo>
                    <a:pt x="24572" y="181479"/>
                    <a:pt x="0" y="156908"/>
                    <a:pt x="0" y="126597"/>
                  </a:cubicBezTo>
                  <a:lnTo>
                    <a:pt x="0" y="54882"/>
                  </a:lnTo>
                  <a:cubicBezTo>
                    <a:pt x="0" y="24572"/>
                    <a:pt x="24572" y="0"/>
                    <a:pt x="54882" y="0"/>
                  </a:cubicBezTo>
                  <a:close/>
                </a:path>
              </a:pathLst>
            </a:custGeom>
            <a:solidFill>
              <a:srgbClr val="7A0000"/>
            </a:solidFill>
            <a:ln w="9525" cap="rnd">
              <a:solidFill>
                <a:srgbClr val="8D0C0B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94782" cy="257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2050" y="5428355"/>
            <a:ext cx="879950" cy="571374"/>
            <a:chOff x="0" y="0"/>
            <a:chExt cx="231756" cy="1504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756" cy="150485"/>
            </a:xfrm>
            <a:custGeom>
              <a:avLst/>
              <a:gdLst/>
              <a:ahLst/>
              <a:cxnLst/>
              <a:rect r="r" b="b" t="t" l="l"/>
              <a:pathLst>
                <a:path h="150485" w="231756">
                  <a:moveTo>
                    <a:pt x="75243" y="0"/>
                  </a:moveTo>
                  <a:lnTo>
                    <a:pt x="156514" y="0"/>
                  </a:lnTo>
                  <a:cubicBezTo>
                    <a:pt x="198069" y="0"/>
                    <a:pt x="231756" y="33687"/>
                    <a:pt x="231756" y="75243"/>
                  </a:cubicBezTo>
                  <a:lnTo>
                    <a:pt x="231756" y="75243"/>
                  </a:lnTo>
                  <a:cubicBezTo>
                    <a:pt x="231756" y="95198"/>
                    <a:pt x="223829" y="114337"/>
                    <a:pt x="209718" y="128447"/>
                  </a:cubicBezTo>
                  <a:cubicBezTo>
                    <a:pt x="195607" y="142558"/>
                    <a:pt x="176469" y="150485"/>
                    <a:pt x="156514" y="150485"/>
                  </a:cubicBezTo>
                  <a:lnTo>
                    <a:pt x="75243" y="150485"/>
                  </a:lnTo>
                  <a:cubicBezTo>
                    <a:pt x="33687" y="150485"/>
                    <a:pt x="0" y="116798"/>
                    <a:pt x="0" y="75243"/>
                  </a:cubicBezTo>
                  <a:lnTo>
                    <a:pt x="0" y="75243"/>
                  </a:lnTo>
                  <a:cubicBezTo>
                    <a:pt x="0" y="33687"/>
                    <a:pt x="33687" y="0"/>
                    <a:pt x="75243" y="0"/>
                  </a:cubicBezTo>
                  <a:close/>
                </a:path>
              </a:pathLst>
            </a:custGeom>
            <a:solidFill>
              <a:srgbClr val="FDF3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1756" cy="217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BB09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MUST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2533994" y="5418830"/>
            <a:ext cx="0" cy="53750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28700" y="7207908"/>
            <a:ext cx="6015069" cy="0"/>
          </a:xfrm>
          <a:prstGeom prst="line">
            <a:avLst/>
          </a:prstGeom>
          <a:ln cap="flat" w="38100">
            <a:solidFill>
              <a:srgbClr val="DD787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38225" y="8360433"/>
            <a:ext cx="6015069" cy="0"/>
          </a:xfrm>
          <a:prstGeom prst="line">
            <a:avLst/>
          </a:prstGeom>
          <a:ln cap="flat" w="38100">
            <a:solidFill>
              <a:srgbClr val="DD787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13522" y="6252705"/>
            <a:ext cx="688503" cy="68850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2452" t="-1568" r="-20551" b="-1998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98654" y="7407933"/>
            <a:ext cx="685396" cy="68539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0259" t="-13116" r="-20769" b="-1028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1691" y="8530974"/>
            <a:ext cx="699322" cy="69932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5211" t="-12544" r="-13999" b="-138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388603" y="5600873"/>
            <a:ext cx="9238957" cy="1673163"/>
            <a:chOff x="0" y="0"/>
            <a:chExt cx="2433305" cy="4406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3306" cy="440668"/>
            </a:xfrm>
            <a:custGeom>
              <a:avLst/>
              <a:gdLst/>
              <a:ahLst/>
              <a:cxnLst/>
              <a:rect r="r" b="b" t="t" l="l"/>
              <a:pathLst>
                <a:path h="440668" w="2433306">
                  <a:moveTo>
                    <a:pt x="42736" y="0"/>
                  </a:moveTo>
                  <a:lnTo>
                    <a:pt x="2390569" y="0"/>
                  </a:lnTo>
                  <a:cubicBezTo>
                    <a:pt x="2414172" y="0"/>
                    <a:pt x="2433306" y="19134"/>
                    <a:pt x="2433306" y="42736"/>
                  </a:cubicBezTo>
                  <a:lnTo>
                    <a:pt x="2433306" y="397932"/>
                  </a:lnTo>
                  <a:cubicBezTo>
                    <a:pt x="2433306" y="421535"/>
                    <a:pt x="2414172" y="440668"/>
                    <a:pt x="2390569" y="440668"/>
                  </a:cubicBezTo>
                  <a:lnTo>
                    <a:pt x="42736" y="440668"/>
                  </a:lnTo>
                  <a:cubicBezTo>
                    <a:pt x="19134" y="440668"/>
                    <a:pt x="0" y="421535"/>
                    <a:pt x="0" y="397932"/>
                  </a:cubicBezTo>
                  <a:lnTo>
                    <a:pt x="0" y="42736"/>
                  </a:lnTo>
                  <a:cubicBezTo>
                    <a:pt x="0" y="19134"/>
                    <a:pt x="19134" y="0"/>
                    <a:pt x="42736" y="0"/>
                  </a:cubicBezTo>
                  <a:close/>
                </a:path>
              </a:pathLst>
            </a:custGeom>
            <a:solidFill>
              <a:srgbClr val="CC7A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2433305" cy="516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09463" y="6330239"/>
            <a:ext cx="668434" cy="66843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7104" t="-19524" r="-26213" b="-3072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360028" y="5543438"/>
            <a:ext cx="9267532" cy="689054"/>
            <a:chOff x="0" y="0"/>
            <a:chExt cx="2440831" cy="181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40831" cy="181479"/>
            </a:xfrm>
            <a:custGeom>
              <a:avLst/>
              <a:gdLst/>
              <a:ahLst/>
              <a:cxnLst/>
              <a:rect r="r" b="b" t="t" l="l"/>
              <a:pathLst>
                <a:path h="181479" w="2440831">
                  <a:moveTo>
                    <a:pt x="42604" y="0"/>
                  </a:moveTo>
                  <a:lnTo>
                    <a:pt x="2398227" y="0"/>
                  </a:lnTo>
                  <a:cubicBezTo>
                    <a:pt x="2409526" y="0"/>
                    <a:pt x="2420363" y="4489"/>
                    <a:pt x="2428353" y="12479"/>
                  </a:cubicBezTo>
                  <a:cubicBezTo>
                    <a:pt x="2436343" y="20468"/>
                    <a:pt x="2440831" y="31305"/>
                    <a:pt x="2440831" y="42604"/>
                  </a:cubicBezTo>
                  <a:lnTo>
                    <a:pt x="2440831" y="138875"/>
                  </a:lnTo>
                  <a:cubicBezTo>
                    <a:pt x="2440831" y="162405"/>
                    <a:pt x="2421757" y="181479"/>
                    <a:pt x="2398227" y="181479"/>
                  </a:cubicBezTo>
                  <a:lnTo>
                    <a:pt x="42604" y="181479"/>
                  </a:lnTo>
                  <a:cubicBezTo>
                    <a:pt x="19075" y="181479"/>
                    <a:pt x="0" y="162405"/>
                    <a:pt x="0" y="138875"/>
                  </a:cubicBezTo>
                  <a:lnTo>
                    <a:pt x="0" y="42604"/>
                  </a:lnTo>
                  <a:cubicBezTo>
                    <a:pt x="0" y="19075"/>
                    <a:pt x="19075" y="0"/>
                    <a:pt x="42604" y="0"/>
                  </a:cubicBezTo>
                  <a:close/>
                </a:path>
              </a:pathLst>
            </a:custGeom>
            <a:solidFill>
              <a:srgbClr val="7A4900"/>
            </a:solidFill>
            <a:ln w="9525" cap="rnd">
              <a:solidFill>
                <a:srgbClr val="8D0C0B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2440831" cy="257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881855" y="5591849"/>
            <a:ext cx="1592083" cy="571374"/>
            <a:chOff x="0" y="0"/>
            <a:chExt cx="419314" cy="1504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9314" cy="150485"/>
            </a:xfrm>
            <a:custGeom>
              <a:avLst/>
              <a:gdLst/>
              <a:ahLst/>
              <a:cxnLst/>
              <a:rect r="r" b="b" t="t" l="l"/>
              <a:pathLst>
                <a:path h="150485" w="419314">
                  <a:moveTo>
                    <a:pt x="75243" y="0"/>
                  </a:moveTo>
                  <a:lnTo>
                    <a:pt x="344071" y="0"/>
                  </a:lnTo>
                  <a:cubicBezTo>
                    <a:pt x="364027" y="0"/>
                    <a:pt x="383165" y="7927"/>
                    <a:pt x="397276" y="22038"/>
                  </a:cubicBezTo>
                  <a:cubicBezTo>
                    <a:pt x="411387" y="36149"/>
                    <a:pt x="419314" y="55287"/>
                    <a:pt x="419314" y="75243"/>
                  </a:cubicBezTo>
                  <a:lnTo>
                    <a:pt x="419314" y="75243"/>
                  </a:lnTo>
                  <a:cubicBezTo>
                    <a:pt x="419314" y="116798"/>
                    <a:pt x="385627" y="150485"/>
                    <a:pt x="344071" y="150485"/>
                  </a:cubicBezTo>
                  <a:lnTo>
                    <a:pt x="75243" y="150485"/>
                  </a:lnTo>
                  <a:cubicBezTo>
                    <a:pt x="33687" y="150485"/>
                    <a:pt x="0" y="116798"/>
                    <a:pt x="0" y="75243"/>
                  </a:cubicBezTo>
                  <a:lnTo>
                    <a:pt x="0" y="75243"/>
                  </a:lnTo>
                  <a:cubicBezTo>
                    <a:pt x="0" y="33687"/>
                    <a:pt x="33687" y="0"/>
                    <a:pt x="75243" y="0"/>
                  </a:cubicBezTo>
                  <a:close/>
                </a:path>
              </a:pathLst>
            </a:custGeom>
            <a:solidFill>
              <a:srgbClr val="FDF3E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419314" cy="217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BB09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SHOULD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H="true">
            <a:off x="10912087" y="5619203"/>
            <a:ext cx="0" cy="53750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8426703" y="7566110"/>
            <a:ext cx="9238957" cy="1578627"/>
            <a:chOff x="0" y="0"/>
            <a:chExt cx="2433305" cy="4157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3306" cy="415770"/>
            </a:xfrm>
            <a:custGeom>
              <a:avLst/>
              <a:gdLst/>
              <a:ahLst/>
              <a:cxnLst/>
              <a:rect r="r" b="b" t="t" l="l"/>
              <a:pathLst>
                <a:path h="415770" w="2433306">
                  <a:moveTo>
                    <a:pt x="42736" y="0"/>
                  </a:moveTo>
                  <a:lnTo>
                    <a:pt x="2390569" y="0"/>
                  </a:lnTo>
                  <a:cubicBezTo>
                    <a:pt x="2414172" y="0"/>
                    <a:pt x="2433306" y="19134"/>
                    <a:pt x="2433306" y="42736"/>
                  </a:cubicBezTo>
                  <a:lnTo>
                    <a:pt x="2433306" y="373034"/>
                  </a:lnTo>
                  <a:cubicBezTo>
                    <a:pt x="2433306" y="396636"/>
                    <a:pt x="2414172" y="415770"/>
                    <a:pt x="2390569" y="415770"/>
                  </a:cubicBezTo>
                  <a:lnTo>
                    <a:pt x="42736" y="415770"/>
                  </a:lnTo>
                  <a:cubicBezTo>
                    <a:pt x="19134" y="415770"/>
                    <a:pt x="0" y="396636"/>
                    <a:pt x="0" y="373034"/>
                  </a:cubicBezTo>
                  <a:lnTo>
                    <a:pt x="0" y="42736"/>
                  </a:lnTo>
                  <a:cubicBezTo>
                    <a:pt x="0" y="19134"/>
                    <a:pt x="19134" y="0"/>
                    <a:pt x="42736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2433305" cy="491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96152" y="8296464"/>
            <a:ext cx="658091" cy="65809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7607" t="-15364" r="-3420" b="-1801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398128" y="7512160"/>
            <a:ext cx="9267532" cy="689054"/>
            <a:chOff x="0" y="0"/>
            <a:chExt cx="2440831" cy="18147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40831" cy="181479"/>
            </a:xfrm>
            <a:custGeom>
              <a:avLst/>
              <a:gdLst/>
              <a:ahLst/>
              <a:cxnLst/>
              <a:rect r="r" b="b" t="t" l="l"/>
              <a:pathLst>
                <a:path h="181479" w="2440831">
                  <a:moveTo>
                    <a:pt x="42604" y="0"/>
                  </a:moveTo>
                  <a:lnTo>
                    <a:pt x="2398227" y="0"/>
                  </a:lnTo>
                  <a:cubicBezTo>
                    <a:pt x="2409526" y="0"/>
                    <a:pt x="2420363" y="4489"/>
                    <a:pt x="2428353" y="12479"/>
                  </a:cubicBezTo>
                  <a:cubicBezTo>
                    <a:pt x="2436343" y="20468"/>
                    <a:pt x="2440831" y="31305"/>
                    <a:pt x="2440831" y="42604"/>
                  </a:cubicBezTo>
                  <a:lnTo>
                    <a:pt x="2440831" y="138875"/>
                  </a:lnTo>
                  <a:cubicBezTo>
                    <a:pt x="2440831" y="162405"/>
                    <a:pt x="2421757" y="181479"/>
                    <a:pt x="2398227" y="181479"/>
                  </a:cubicBezTo>
                  <a:lnTo>
                    <a:pt x="42604" y="181479"/>
                  </a:lnTo>
                  <a:cubicBezTo>
                    <a:pt x="19075" y="181479"/>
                    <a:pt x="0" y="162405"/>
                    <a:pt x="0" y="138875"/>
                  </a:cubicBezTo>
                  <a:lnTo>
                    <a:pt x="0" y="42604"/>
                  </a:lnTo>
                  <a:cubicBezTo>
                    <a:pt x="0" y="19075"/>
                    <a:pt x="19075" y="0"/>
                    <a:pt x="42604" y="0"/>
                  </a:cubicBezTo>
                  <a:close/>
                </a:path>
              </a:pathLst>
            </a:custGeom>
            <a:solidFill>
              <a:srgbClr val="7A4900"/>
            </a:solidFill>
            <a:ln w="9525" cap="rnd">
              <a:solidFill>
                <a:srgbClr val="8D0C0B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2440831" cy="257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78100" y="369853"/>
            <a:ext cx="4130838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 개발 목표 · 범위와 요구사항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043769" y="4886961"/>
            <a:ext cx="3534943" cy="39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개발 범위 · MOSCOW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56822" y="5527246"/>
            <a:ext cx="2415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1단계 필수 구현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81377" y="6213606"/>
            <a:ext cx="2538487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현재 대본 위치 추적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62327" y="7331733"/>
            <a:ext cx="4003625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대본 이탈 감지 · 복귀 위치 표시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62327" y="8474733"/>
            <a:ext cx="2179141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신뢰도 기준 적용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49371" y="6309605"/>
            <a:ext cx="2538487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현재 송출 위치 비교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95677" y="6684669"/>
            <a:ext cx="5190967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배우 음성을 대본과 비교해 현재</a:t>
            </a: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진행 중인 큐를 표시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918446" y="7827669"/>
            <a:ext cx="5268198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대본을</a:t>
            </a: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벗어나면 알림, 다시 일치하면 복귀한 줄 표시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862327" y="8945030"/>
            <a:ext cx="5763430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일치도가</a:t>
            </a: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낮거나 노래 구간·음향 입력 끊김이면 알림 보류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013716" y="6817701"/>
            <a:ext cx="595788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실제 송출 중인 큐와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AI가 찾은 큐의 위치 차이를 표시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82907" y="5717198"/>
            <a:ext cx="597639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조건부 확장 (송출 프로그램 연동 확인 시)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049371" y="8293563"/>
            <a:ext cx="2538487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선택 구간 자동 진행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48888" y="8708096"/>
            <a:ext cx="384887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지정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구간에서만 다음 큐 자동 이동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207362" y="7678126"/>
            <a:ext cx="61219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향후 확장  (연동·사회혁신가 동의 시)</a:t>
            </a:r>
          </a:p>
        </p:txBody>
      </p:sp>
      <p:graphicFrame>
        <p:nvGraphicFramePr>
          <p:cNvPr name="Table 58" id="58"/>
          <p:cNvGraphicFramePr>
            <a:graphicFrameLocks noGrp="true"/>
          </p:cNvGraphicFramePr>
          <p:nvPr/>
        </p:nvGraphicFramePr>
        <p:xfrm>
          <a:off x="2313384" y="799973"/>
          <a:ext cx="14023626" cy="3762502"/>
        </p:xfrm>
        <a:graphic>
          <a:graphicData uri="http://schemas.openxmlformats.org/drawingml/2006/table">
            <a:tbl>
              <a:tblPr/>
              <a:tblGrid>
                <a:gridCol w="5888127"/>
                <a:gridCol w="3460957"/>
                <a:gridCol w="4674542"/>
              </a:tblGrid>
              <a:tr h="1016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현장 요구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개발 원칙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구현 기능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2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자막 송출은 오퍼레이터가 직접 결정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AI가 직접 송출하지 않음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현재 위치 · 복귀 큐만 표시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</a:tr>
              <a:tr h="916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애드리브 대응 필요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대본 이탈과 복귀 위치 확인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이탈 알림 · 복귀 큐 표시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</a:tr>
              <a:tr h="907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보조 프로그램 오류 시에도 기존 방식으로 송출 가능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기존 송출과 보조 기능 분리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8D0C0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별도 실행 · 오류 시 기존 방식 유지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D0C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43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</a:tr>
            </a:tbl>
          </a:graphicData>
        </a:graphic>
      </p:graphicFrame>
      <p:sp>
        <p:nvSpPr>
          <p:cNvPr name="TextBox 59" id="59"/>
          <p:cNvSpPr txBox="true"/>
          <p:nvPr/>
        </p:nvSpPr>
        <p:spPr>
          <a:xfrm rot="0">
            <a:off x="17894259" y="9544073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929480" y="7571000"/>
            <a:ext cx="1592083" cy="571374"/>
            <a:chOff x="0" y="0"/>
            <a:chExt cx="419314" cy="15048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9314" cy="150485"/>
            </a:xfrm>
            <a:custGeom>
              <a:avLst/>
              <a:gdLst/>
              <a:ahLst/>
              <a:cxnLst/>
              <a:rect r="r" b="b" t="t" l="l"/>
              <a:pathLst>
                <a:path h="150485" w="419314">
                  <a:moveTo>
                    <a:pt x="75243" y="0"/>
                  </a:moveTo>
                  <a:lnTo>
                    <a:pt x="344071" y="0"/>
                  </a:lnTo>
                  <a:cubicBezTo>
                    <a:pt x="364027" y="0"/>
                    <a:pt x="383165" y="7927"/>
                    <a:pt x="397276" y="22038"/>
                  </a:cubicBezTo>
                  <a:cubicBezTo>
                    <a:pt x="411387" y="36149"/>
                    <a:pt x="419314" y="55287"/>
                    <a:pt x="419314" y="75243"/>
                  </a:cubicBezTo>
                  <a:lnTo>
                    <a:pt x="419314" y="75243"/>
                  </a:lnTo>
                  <a:cubicBezTo>
                    <a:pt x="419314" y="116798"/>
                    <a:pt x="385627" y="150485"/>
                    <a:pt x="344071" y="150485"/>
                  </a:cubicBezTo>
                  <a:lnTo>
                    <a:pt x="75243" y="150485"/>
                  </a:lnTo>
                  <a:cubicBezTo>
                    <a:pt x="33687" y="150485"/>
                    <a:pt x="0" y="116798"/>
                    <a:pt x="0" y="75243"/>
                  </a:cubicBezTo>
                  <a:lnTo>
                    <a:pt x="0" y="75243"/>
                  </a:lnTo>
                  <a:cubicBezTo>
                    <a:pt x="0" y="33687"/>
                    <a:pt x="33687" y="0"/>
                    <a:pt x="75243" y="0"/>
                  </a:cubicBezTo>
                  <a:close/>
                </a:path>
              </a:pathLst>
            </a:custGeom>
            <a:solidFill>
              <a:srgbClr val="FDF3E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419314" cy="217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BB09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COULD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flipH="true">
            <a:off x="10912087" y="7597885"/>
            <a:ext cx="0" cy="53750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8426703" y="9401912"/>
            <a:ext cx="9238957" cy="689054"/>
            <a:chOff x="0" y="0"/>
            <a:chExt cx="2433305" cy="1814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33306" cy="181479"/>
            </a:xfrm>
            <a:custGeom>
              <a:avLst/>
              <a:gdLst/>
              <a:ahLst/>
              <a:cxnLst/>
              <a:rect r="r" b="b" t="t" l="l"/>
              <a:pathLst>
                <a:path h="181479" w="2433306">
                  <a:moveTo>
                    <a:pt x="42736" y="0"/>
                  </a:moveTo>
                  <a:lnTo>
                    <a:pt x="2390569" y="0"/>
                  </a:lnTo>
                  <a:cubicBezTo>
                    <a:pt x="2414172" y="0"/>
                    <a:pt x="2433306" y="19134"/>
                    <a:pt x="2433306" y="42736"/>
                  </a:cubicBezTo>
                  <a:lnTo>
                    <a:pt x="2433306" y="138743"/>
                  </a:lnTo>
                  <a:cubicBezTo>
                    <a:pt x="2433306" y="162346"/>
                    <a:pt x="2414172" y="181479"/>
                    <a:pt x="2390569" y="181479"/>
                  </a:cubicBezTo>
                  <a:lnTo>
                    <a:pt x="42736" y="181479"/>
                  </a:lnTo>
                  <a:cubicBezTo>
                    <a:pt x="19134" y="181479"/>
                    <a:pt x="0" y="162346"/>
                    <a:pt x="0" y="138743"/>
                  </a:cubicBezTo>
                  <a:lnTo>
                    <a:pt x="0" y="42736"/>
                  </a:lnTo>
                  <a:cubicBezTo>
                    <a:pt x="0" y="19134"/>
                    <a:pt x="19134" y="0"/>
                    <a:pt x="42736" y="0"/>
                  </a:cubicBezTo>
                  <a:close/>
                </a:path>
              </a:pathLst>
            </a:custGeom>
            <a:solidFill>
              <a:srgbClr val="561269"/>
            </a:solidFill>
            <a:ln w="9525" cap="rnd">
              <a:solidFill>
                <a:srgbClr val="8D0C0B"/>
              </a:soli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2433305" cy="257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929480" y="9430487"/>
            <a:ext cx="1592083" cy="571374"/>
            <a:chOff x="0" y="0"/>
            <a:chExt cx="419314" cy="1504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9314" cy="150485"/>
            </a:xfrm>
            <a:custGeom>
              <a:avLst/>
              <a:gdLst/>
              <a:ahLst/>
              <a:cxnLst/>
              <a:rect r="r" b="b" t="t" l="l"/>
              <a:pathLst>
                <a:path h="150485" w="419314">
                  <a:moveTo>
                    <a:pt x="75243" y="0"/>
                  </a:moveTo>
                  <a:lnTo>
                    <a:pt x="344071" y="0"/>
                  </a:lnTo>
                  <a:cubicBezTo>
                    <a:pt x="364027" y="0"/>
                    <a:pt x="383165" y="7927"/>
                    <a:pt x="397276" y="22038"/>
                  </a:cubicBezTo>
                  <a:cubicBezTo>
                    <a:pt x="411387" y="36149"/>
                    <a:pt x="419314" y="55287"/>
                    <a:pt x="419314" y="75243"/>
                  </a:cubicBezTo>
                  <a:lnTo>
                    <a:pt x="419314" y="75243"/>
                  </a:lnTo>
                  <a:cubicBezTo>
                    <a:pt x="419314" y="116798"/>
                    <a:pt x="385627" y="150485"/>
                    <a:pt x="344071" y="150485"/>
                  </a:cubicBezTo>
                  <a:lnTo>
                    <a:pt x="75243" y="150485"/>
                  </a:lnTo>
                  <a:cubicBezTo>
                    <a:pt x="33687" y="150485"/>
                    <a:pt x="0" y="116798"/>
                    <a:pt x="0" y="75243"/>
                  </a:cubicBezTo>
                  <a:lnTo>
                    <a:pt x="0" y="75243"/>
                  </a:lnTo>
                  <a:cubicBezTo>
                    <a:pt x="0" y="33687"/>
                    <a:pt x="33687" y="0"/>
                    <a:pt x="75243" y="0"/>
                  </a:cubicBezTo>
                  <a:close/>
                </a:path>
              </a:pathLst>
            </a:custGeom>
            <a:solidFill>
              <a:srgbClr val="FDF3E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419314" cy="217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BB09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WON’T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1079966" y="9544787"/>
            <a:ext cx="6369993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관객 자막 자동 송출, 애드리브 임시 자막, 스마트안경 등 하드웨어</a:t>
            </a:r>
          </a:p>
        </p:txBody>
      </p:sp>
      <p:sp>
        <p:nvSpPr>
          <p:cNvPr name="AutoShape 71" id="71"/>
          <p:cNvSpPr/>
          <p:nvPr/>
        </p:nvSpPr>
        <p:spPr>
          <a:xfrm flipH="true">
            <a:off x="10788361" y="9456946"/>
            <a:ext cx="0" cy="53750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48859" y="520665"/>
            <a:ext cx="1534644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256824"/>
            <a:ext cx="3086100" cy="815268"/>
            <a:chOff x="0" y="0"/>
            <a:chExt cx="812800" cy="2147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14721"/>
            </a:xfrm>
            <a:custGeom>
              <a:avLst/>
              <a:gdLst/>
              <a:ahLst/>
              <a:cxnLst/>
              <a:rect r="r" b="b" t="t" l="l"/>
              <a:pathLst>
                <a:path h="214721" w="812800">
                  <a:moveTo>
                    <a:pt x="107360" y="0"/>
                  </a:moveTo>
                  <a:lnTo>
                    <a:pt x="705440" y="0"/>
                  </a:lnTo>
                  <a:cubicBezTo>
                    <a:pt x="764733" y="0"/>
                    <a:pt x="812800" y="48067"/>
                    <a:pt x="812800" y="107360"/>
                  </a:cubicBezTo>
                  <a:lnTo>
                    <a:pt x="812800" y="107360"/>
                  </a:lnTo>
                  <a:cubicBezTo>
                    <a:pt x="812800" y="135834"/>
                    <a:pt x="801489" y="163142"/>
                    <a:pt x="781355" y="183276"/>
                  </a:cubicBezTo>
                  <a:cubicBezTo>
                    <a:pt x="761221" y="203410"/>
                    <a:pt x="733913" y="214721"/>
                    <a:pt x="705440" y="214721"/>
                  </a:cubicBezTo>
                  <a:lnTo>
                    <a:pt x="107360" y="214721"/>
                  </a:lnTo>
                  <a:cubicBezTo>
                    <a:pt x="48067" y="214721"/>
                    <a:pt x="0" y="166654"/>
                    <a:pt x="0" y="107360"/>
                  </a:cubicBezTo>
                  <a:lnTo>
                    <a:pt x="0" y="107360"/>
                  </a:lnTo>
                  <a:cubicBezTo>
                    <a:pt x="0" y="48067"/>
                    <a:pt x="48067" y="0"/>
                    <a:pt x="107360" y="0"/>
                  </a:cubicBezTo>
                  <a:close/>
                </a:path>
              </a:pathLst>
            </a:custGeom>
            <a:solidFill>
              <a:srgbClr val="DD78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812800" cy="290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기술 접근 방식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0788" y="1226546"/>
            <a:ext cx="875824" cy="899551"/>
            <a:chOff x="0" y="0"/>
            <a:chExt cx="812800" cy="8348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34820"/>
            </a:xfrm>
            <a:custGeom>
              <a:avLst/>
              <a:gdLst/>
              <a:ahLst/>
              <a:cxnLst/>
              <a:rect r="r" b="b" t="t" l="l"/>
              <a:pathLst>
                <a:path h="834820" w="812800">
                  <a:moveTo>
                    <a:pt x="406400" y="0"/>
                  </a:moveTo>
                  <a:cubicBezTo>
                    <a:pt x="181951" y="0"/>
                    <a:pt x="0" y="186881"/>
                    <a:pt x="0" y="417410"/>
                  </a:cubicBezTo>
                  <a:cubicBezTo>
                    <a:pt x="0" y="647939"/>
                    <a:pt x="181951" y="834820"/>
                    <a:pt x="406400" y="834820"/>
                  </a:cubicBezTo>
                  <a:cubicBezTo>
                    <a:pt x="630849" y="834820"/>
                    <a:pt x="812800" y="647939"/>
                    <a:pt x="812800" y="417410"/>
                  </a:cubicBezTo>
                  <a:cubicBezTo>
                    <a:pt x="812800" y="18688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787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064"/>
              <a:ext cx="660400" cy="754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0788" y="2405087"/>
            <a:ext cx="6838311" cy="1632768"/>
            <a:chOff x="0" y="0"/>
            <a:chExt cx="1801037" cy="43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1037" cy="430029"/>
            </a:xfrm>
            <a:custGeom>
              <a:avLst/>
              <a:gdLst/>
              <a:ahLst/>
              <a:cxnLst/>
              <a:rect r="r" b="b" t="t" l="l"/>
              <a:pathLst>
                <a:path h="430029" w="1801037">
                  <a:moveTo>
                    <a:pt x="57739" y="0"/>
                  </a:moveTo>
                  <a:lnTo>
                    <a:pt x="1743297" y="0"/>
                  </a:lnTo>
                  <a:cubicBezTo>
                    <a:pt x="1758611" y="0"/>
                    <a:pt x="1773297" y="6083"/>
                    <a:pt x="1784125" y="16911"/>
                  </a:cubicBezTo>
                  <a:cubicBezTo>
                    <a:pt x="1794953" y="27740"/>
                    <a:pt x="1801037" y="42426"/>
                    <a:pt x="1801037" y="57739"/>
                  </a:cubicBezTo>
                  <a:lnTo>
                    <a:pt x="1801037" y="372290"/>
                  </a:lnTo>
                  <a:cubicBezTo>
                    <a:pt x="1801037" y="404179"/>
                    <a:pt x="1775186" y="430029"/>
                    <a:pt x="1743297" y="430029"/>
                  </a:cubicBezTo>
                  <a:lnTo>
                    <a:pt x="57739" y="430029"/>
                  </a:lnTo>
                  <a:cubicBezTo>
                    <a:pt x="25851" y="430029"/>
                    <a:pt x="0" y="404179"/>
                    <a:pt x="0" y="372290"/>
                  </a:cubicBezTo>
                  <a:lnTo>
                    <a:pt x="0" y="57739"/>
                  </a:lnTo>
                  <a:cubicBezTo>
                    <a:pt x="0" y="25851"/>
                    <a:pt x="25851" y="0"/>
                    <a:pt x="5773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801037" cy="506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77492" y="1789849"/>
            <a:ext cx="8434183" cy="2371830"/>
            <a:chOff x="0" y="0"/>
            <a:chExt cx="2221348" cy="624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1349" cy="624680"/>
            </a:xfrm>
            <a:custGeom>
              <a:avLst/>
              <a:gdLst/>
              <a:ahLst/>
              <a:cxnLst/>
              <a:rect r="r" b="b" t="t" l="l"/>
              <a:pathLst>
                <a:path h="624680" w="2221349">
                  <a:moveTo>
                    <a:pt x="46814" y="0"/>
                  </a:moveTo>
                  <a:lnTo>
                    <a:pt x="2174535" y="0"/>
                  </a:lnTo>
                  <a:cubicBezTo>
                    <a:pt x="2186950" y="0"/>
                    <a:pt x="2198858" y="4932"/>
                    <a:pt x="2207637" y="13712"/>
                  </a:cubicBezTo>
                  <a:cubicBezTo>
                    <a:pt x="2216416" y="22491"/>
                    <a:pt x="2221349" y="34398"/>
                    <a:pt x="2221349" y="46814"/>
                  </a:cubicBezTo>
                  <a:lnTo>
                    <a:pt x="2221349" y="577866"/>
                  </a:lnTo>
                  <a:cubicBezTo>
                    <a:pt x="2221349" y="603720"/>
                    <a:pt x="2200389" y="624680"/>
                    <a:pt x="2174535" y="624680"/>
                  </a:cubicBezTo>
                  <a:lnTo>
                    <a:pt x="46814" y="624680"/>
                  </a:lnTo>
                  <a:cubicBezTo>
                    <a:pt x="20959" y="624680"/>
                    <a:pt x="0" y="603720"/>
                    <a:pt x="0" y="577866"/>
                  </a:cubicBezTo>
                  <a:lnTo>
                    <a:pt x="0" y="46814"/>
                  </a:lnTo>
                  <a:cubicBezTo>
                    <a:pt x="0" y="20959"/>
                    <a:pt x="20959" y="0"/>
                    <a:pt x="46814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221348" cy="70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790067">
            <a:off x="6371050" y="1633562"/>
            <a:ext cx="1543050" cy="15430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14300"/>
              <a:ext cx="431800" cy="50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16903" y="3017238"/>
            <a:ext cx="620410" cy="62041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27000"/>
              <a:ext cx="7112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252328" y="1128406"/>
            <a:ext cx="2006972" cy="1665787"/>
          </a:xfrm>
          <a:custGeom>
            <a:avLst/>
            <a:gdLst/>
            <a:ahLst/>
            <a:cxnLst/>
            <a:rect r="r" b="b" t="t" l="l"/>
            <a:pathLst>
              <a:path h="1665787" w="2006972">
                <a:moveTo>
                  <a:pt x="0" y="0"/>
                </a:moveTo>
                <a:lnTo>
                  <a:pt x="2006972" y="0"/>
                </a:lnTo>
                <a:lnTo>
                  <a:pt x="2006972" y="1665787"/>
                </a:lnTo>
                <a:lnTo>
                  <a:pt x="0" y="1665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28700" y="4763457"/>
            <a:ext cx="3086100" cy="815268"/>
            <a:chOff x="0" y="0"/>
            <a:chExt cx="812800" cy="2147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214721"/>
            </a:xfrm>
            <a:custGeom>
              <a:avLst/>
              <a:gdLst/>
              <a:ahLst/>
              <a:cxnLst/>
              <a:rect r="r" b="b" t="t" l="l"/>
              <a:pathLst>
                <a:path h="214721" w="812800">
                  <a:moveTo>
                    <a:pt x="107360" y="0"/>
                  </a:moveTo>
                  <a:lnTo>
                    <a:pt x="705440" y="0"/>
                  </a:lnTo>
                  <a:cubicBezTo>
                    <a:pt x="764733" y="0"/>
                    <a:pt x="812800" y="48067"/>
                    <a:pt x="812800" y="107360"/>
                  </a:cubicBezTo>
                  <a:lnTo>
                    <a:pt x="812800" y="107360"/>
                  </a:lnTo>
                  <a:cubicBezTo>
                    <a:pt x="812800" y="135834"/>
                    <a:pt x="801489" y="163142"/>
                    <a:pt x="781355" y="183276"/>
                  </a:cubicBezTo>
                  <a:cubicBezTo>
                    <a:pt x="761221" y="203410"/>
                    <a:pt x="733913" y="214721"/>
                    <a:pt x="705440" y="214721"/>
                  </a:cubicBezTo>
                  <a:lnTo>
                    <a:pt x="107360" y="214721"/>
                  </a:lnTo>
                  <a:cubicBezTo>
                    <a:pt x="48067" y="214721"/>
                    <a:pt x="0" y="166654"/>
                    <a:pt x="0" y="107360"/>
                  </a:cubicBezTo>
                  <a:lnTo>
                    <a:pt x="0" y="107360"/>
                  </a:lnTo>
                  <a:cubicBezTo>
                    <a:pt x="0" y="48067"/>
                    <a:pt x="48067" y="0"/>
                    <a:pt x="107360" y="0"/>
                  </a:cubicBezTo>
                  <a:close/>
                </a:path>
              </a:pathLst>
            </a:custGeom>
            <a:solidFill>
              <a:srgbClr val="DD787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812800" cy="290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제</a:t>
              </a: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약 및 대응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90788" y="4733180"/>
            <a:ext cx="875824" cy="899551"/>
            <a:chOff x="0" y="0"/>
            <a:chExt cx="812800" cy="8348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34820"/>
            </a:xfrm>
            <a:custGeom>
              <a:avLst/>
              <a:gdLst/>
              <a:ahLst/>
              <a:cxnLst/>
              <a:rect r="r" b="b" t="t" l="l"/>
              <a:pathLst>
                <a:path h="834820" w="812800">
                  <a:moveTo>
                    <a:pt x="406400" y="0"/>
                  </a:moveTo>
                  <a:cubicBezTo>
                    <a:pt x="181951" y="0"/>
                    <a:pt x="0" y="186881"/>
                    <a:pt x="0" y="417410"/>
                  </a:cubicBezTo>
                  <a:cubicBezTo>
                    <a:pt x="0" y="647939"/>
                    <a:pt x="181951" y="834820"/>
                    <a:pt x="406400" y="834820"/>
                  </a:cubicBezTo>
                  <a:cubicBezTo>
                    <a:pt x="630849" y="834820"/>
                    <a:pt x="812800" y="647939"/>
                    <a:pt x="812800" y="417410"/>
                  </a:cubicBezTo>
                  <a:cubicBezTo>
                    <a:pt x="812800" y="18688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787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064"/>
              <a:ext cx="660400" cy="754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3497" y="5908956"/>
            <a:ext cx="16315803" cy="1042079"/>
            <a:chOff x="0" y="0"/>
            <a:chExt cx="4297166" cy="2744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97166" cy="274457"/>
            </a:xfrm>
            <a:custGeom>
              <a:avLst/>
              <a:gdLst/>
              <a:ahLst/>
              <a:cxnLst/>
              <a:rect r="r" b="b" t="t" l="l"/>
              <a:pathLst>
                <a:path h="274457" w="4297166">
                  <a:moveTo>
                    <a:pt x="24200" y="0"/>
                  </a:moveTo>
                  <a:lnTo>
                    <a:pt x="4272967" y="0"/>
                  </a:lnTo>
                  <a:cubicBezTo>
                    <a:pt x="4279385" y="0"/>
                    <a:pt x="4285540" y="2550"/>
                    <a:pt x="4290078" y="7088"/>
                  </a:cubicBezTo>
                  <a:cubicBezTo>
                    <a:pt x="4294617" y="11626"/>
                    <a:pt x="4297166" y="17782"/>
                    <a:pt x="4297166" y="24200"/>
                  </a:cubicBezTo>
                  <a:lnTo>
                    <a:pt x="4297166" y="250257"/>
                  </a:lnTo>
                  <a:cubicBezTo>
                    <a:pt x="4297166" y="263623"/>
                    <a:pt x="4286332" y="274457"/>
                    <a:pt x="4272967" y="274457"/>
                  </a:cubicBezTo>
                  <a:lnTo>
                    <a:pt x="24200" y="274457"/>
                  </a:lnTo>
                  <a:cubicBezTo>
                    <a:pt x="10835" y="274457"/>
                    <a:pt x="0" y="263623"/>
                    <a:pt x="0" y="250257"/>
                  </a:cubicBezTo>
                  <a:lnTo>
                    <a:pt x="0" y="24200"/>
                  </a:lnTo>
                  <a:cubicBezTo>
                    <a:pt x="0" y="10835"/>
                    <a:pt x="10835" y="0"/>
                    <a:pt x="24200" y="0"/>
                  </a:cubicBezTo>
                  <a:close/>
                </a:path>
              </a:pathLst>
            </a:custGeom>
            <a:solidFill>
              <a:srgbClr val="F7E1E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4297166" cy="35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87625" y="369853"/>
            <a:ext cx="4914373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 개발 내용 · 접근 방법 및 제약 조건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040423"/>
            <a:ext cx="570259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음성인식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결과를 자막으로 직접 송출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0" y="2757530"/>
            <a:ext cx="7639735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음성인식</a:t>
            </a:r>
            <a:r>
              <a:rPr lang="en-US" b="true" sz="3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결과로 대본 내 현재 위치 탐색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57608" y="6132181"/>
            <a:ext cx="317026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7A0000"/>
                </a:solidFill>
                <a:latin typeface="Poppins Bold"/>
                <a:ea typeface="Poppins Bold"/>
                <a:cs typeface="Poppins Bold"/>
                <a:sym typeface="Poppins Bold"/>
              </a:rPr>
              <a:t>공연 데이터 확보 제한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64591" y="6028675"/>
            <a:ext cx="457200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167A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39919" y="9676298"/>
            <a:ext cx="1145440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※ 음성인식 실행 위치(로컬/클라우드)와 송출 프로그램 연동 여부는 10월</a:t>
            </a:r>
            <a:r>
              <a:rPr lang="en-US" b="true" sz="2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중간체크인 전 검증 후 확정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3497" y="7162050"/>
            <a:ext cx="16315803" cy="1042079"/>
            <a:chOff x="0" y="0"/>
            <a:chExt cx="4297166" cy="2744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97166" cy="274457"/>
            </a:xfrm>
            <a:custGeom>
              <a:avLst/>
              <a:gdLst/>
              <a:ahLst/>
              <a:cxnLst/>
              <a:rect r="r" b="b" t="t" l="l"/>
              <a:pathLst>
                <a:path h="274457" w="4297166">
                  <a:moveTo>
                    <a:pt x="24200" y="0"/>
                  </a:moveTo>
                  <a:lnTo>
                    <a:pt x="4272967" y="0"/>
                  </a:lnTo>
                  <a:cubicBezTo>
                    <a:pt x="4279385" y="0"/>
                    <a:pt x="4285540" y="2550"/>
                    <a:pt x="4290078" y="7088"/>
                  </a:cubicBezTo>
                  <a:cubicBezTo>
                    <a:pt x="4294617" y="11626"/>
                    <a:pt x="4297166" y="17782"/>
                    <a:pt x="4297166" y="24200"/>
                  </a:cubicBezTo>
                  <a:lnTo>
                    <a:pt x="4297166" y="250257"/>
                  </a:lnTo>
                  <a:cubicBezTo>
                    <a:pt x="4297166" y="263623"/>
                    <a:pt x="4286332" y="274457"/>
                    <a:pt x="4272967" y="274457"/>
                  </a:cubicBezTo>
                  <a:lnTo>
                    <a:pt x="24200" y="274457"/>
                  </a:lnTo>
                  <a:cubicBezTo>
                    <a:pt x="10835" y="274457"/>
                    <a:pt x="0" y="263623"/>
                    <a:pt x="0" y="250257"/>
                  </a:cubicBezTo>
                  <a:lnTo>
                    <a:pt x="0" y="24200"/>
                  </a:lnTo>
                  <a:cubicBezTo>
                    <a:pt x="0" y="10835"/>
                    <a:pt x="10835" y="0"/>
                    <a:pt x="24200" y="0"/>
                  </a:cubicBezTo>
                  <a:close/>
                </a:path>
              </a:pathLst>
            </a:custGeom>
            <a:solidFill>
              <a:srgbClr val="F7E1E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4297166" cy="35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231736" y="7385275"/>
            <a:ext cx="342200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7A0000"/>
                </a:solidFill>
                <a:latin typeface="Poppins Bold"/>
                <a:ea typeface="Poppins Bold"/>
                <a:cs typeface="Poppins Bold"/>
                <a:sym typeface="Poppins Bold"/>
              </a:rPr>
              <a:t>공연장 네트워크 불확실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25569" y="5885700"/>
            <a:ext cx="876555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167A"/>
                </a:solidFill>
                <a:latin typeface="Poppins Bold"/>
                <a:ea typeface="Poppins Bold"/>
                <a:cs typeface="Poppins Bold"/>
                <a:sym typeface="Poppins Bold"/>
              </a:rPr>
              <a:t>(대응) 공개 희곡·자체 녹음으로 기술 검증, 유튜브 공개 공연 영상으로 모의 공연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76573" y="8432729"/>
            <a:ext cx="16315803" cy="1042079"/>
            <a:chOff x="0" y="0"/>
            <a:chExt cx="4297166" cy="2744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97166" cy="274457"/>
            </a:xfrm>
            <a:custGeom>
              <a:avLst/>
              <a:gdLst/>
              <a:ahLst/>
              <a:cxnLst/>
              <a:rect r="r" b="b" t="t" l="l"/>
              <a:pathLst>
                <a:path h="274457" w="4297166">
                  <a:moveTo>
                    <a:pt x="24200" y="0"/>
                  </a:moveTo>
                  <a:lnTo>
                    <a:pt x="4272967" y="0"/>
                  </a:lnTo>
                  <a:cubicBezTo>
                    <a:pt x="4279385" y="0"/>
                    <a:pt x="4285540" y="2550"/>
                    <a:pt x="4290078" y="7088"/>
                  </a:cubicBezTo>
                  <a:cubicBezTo>
                    <a:pt x="4294617" y="11626"/>
                    <a:pt x="4297166" y="17782"/>
                    <a:pt x="4297166" y="24200"/>
                  </a:cubicBezTo>
                  <a:lnTo>
                    <a:pt x="4297166" y="250257"/>
                  </a:lnTo>
                  <a:cubicBezTo>
                    <a:pt x="4297166" y="263623"/>
                    <a:pt x="4286332" y="274457"/>
                    <a:pt x="4272967" y="274457"/>
                  </a:cubicBezTo>
                  <a:lnTo>
                    <a:pt x="24200" y="274457"/>
                  </a:lnTo>
                  <a:cubicBezTo>
                    <a:pt x="10835" y="274457"/>
                    <a:pt x="0" y="263623"/>
                    <a:pt x="0" y="250257"/>
                  </a:cubicBezTo>
                  <a:lnTo>
                    <a:pt x="0" y="24200"/>
                  </a:lnTo>
                  <a:cubicBezTo>
                    <a:pt x="0" y="10835"/>
                    <a:pt x="10835" y="0"/>
                    <a:pt x="24200" y="0"/>
                  </a:cubicBezTo>
                  <a:close/>
                </a:path>
              </a:pathLst>
            </a:custGeom>
            <a:solidFill>
              <a:srgbClr val="F7E1E1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4297166" cy="35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2885985" y="8710655"/>
            <a:ext cx="211350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7A0000"/>
                </a:solidFill>
                <a:latin typeface="Poppins Bold"/>
                <a:ea typeface="Poppins Bold"/>
                <a:cs typeface="Poppins Bold"/>
                <a:sym typeface="Poppins Bold"/>
              </a:rPr>
              <a:t>송출</a:t>
            </a:r>
            <a:r>
              <a:rPr lang="en-US" b="true" sz="2799">
                <a:solidFill>
                  <a:srgbClr val="7A0000"/>
                </a:solidFill>
                <a:latin typeface="Poppins Bold"/>
                <a:ea typeface="Poppins Bold"/>
                <a:cs typeface="Poppins Bold"/>
                <a:sym typeface="Poppins Bold"/>
              </a:rPr>
              <a:t> 오류 위험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31712" y="8575626"/>
            <a:ext cx="5870823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167A"/>
                </a:solidFill>
                <a:latin typeface="Poppins Bold"/>
                <a:ea typeface="Poppins Bold"/>
                <a:cs typeface="Poppins Bold"/>
                <a:sym typeface="Poppins Bold"/>
              </a:rPr>
              <a:t>(대응) 기존</a:t>
            </a:r>
            <a:r>
              <a:rPr lang="en-US" b="true" sz="3599">
                <a:solidFill>
                  <a:srgbClr val="00167A"/>
                </a:solidFill>
                <a:latin typeface="Poppins Bold"/>
                <a:ea typeface="Poppins Bold"/>
                <a:cs typeface="Poppins Bold"/>
                <a:sym typeface="Poppins Bold"/>
              </a:rPr>
              <a:t> 송출 시스템과 분리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274091" y="7333544"/>
            <a:ext cx="457200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167A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48688" y="7394067"/>
            <a:ext cx="991932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167A"/>
                </a:solidFill>
                <a:latin typeface="Poppins Bold"/>
                <a:ea typeface="Poppins Bold"/>
                <a:cs typeface="Poppins Bold"/>
                <a:sym typeface="Poppins Bold"/>
              </a:rPr>
              <a:t>(대응) 로컬·클라우드 음성인식을 같은 음원으로 비교해 10월 중 확정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502691" y="8630327"/>
            <a:ext cx="457200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167A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654327" y="9532787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01524" y="520665"/>
            <a:ext cx="1534644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87625" y="1673865"/>
            <a:ext cx="7948419" cy="8311865"/>
          </a:xfrm>
          <a:custGeom>
            <a:avLst/>
            <a:gdLst/>
            <a:ahLst/>
            <a:cxnLst/>
            <a:rect r="r" b="b" t="t" l="l"/>
            <a:pathLst>
              <a:path h="8311865" w="7948419">
                <a:moveTo>
                  <a:pt x="0" y="0"/>
                </a:moveTo>
                <a:lnTo>
                  <a:pt x="7948419" y="0"/>
                </a:lnTo>
                <a:lnTo>
                  <a:pt x="7948419" y="8311865"/>
                </a:lnTo>
                <a:lnTo>
                  <a:pt x="0" y="831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3523" y="952505"/>
            <a:ext cx="2110438" cy="721360"/>
            <a:chOff x="0" y="0"/>
            <a:chExt cx="555836" cy="1899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5836" cy="189988"/>
            </a:xfrm>
            <a:custGeom>
              <a:avLst/>
              <a:gdLst/>
              <a:ahLst/>
              <a:cxnLst/>
              <a:rect r="r" b="b" t="t" l="l"/>
              <a:pathLst>
                <a:path h="189988" w="555836">
                  <a:moveTo>
                    <a:pt x="0" y="0"/>
                  </a:moveTo>
                  <a:lnTo>
                    <a:pt x="555836" y="0"/>
                  </a:lnTo>
                  <a:lnTo>
                    <a:pt x="555836" y="189988"/>
                  </a:lnTo>
                  <a:lnTo>
                    <a:pt x="0" y="189988"/>
                  </a:lnTo>
                  <a:close/>
                </a:path>
              </a:pathLst>
            </a:custGeom>
            <a:solidFill>
              <a:srgbClr val="8D0C0B"/>
            </a:solid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555836" cy="266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시스템 구조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31409" y="2559891"/>
            <a:ext cx="2584331" cy="721360"/>
            <a:chOff x="0" y="0"/>
            <a:chExt cx="680647" cy="1899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0647" cy="189988"/>
            </a:xfrm>
            <a:custGeom>
              <a:avLst/>
              <a:gdLst/>
              <a:ahLst/>
              <a:cxnLst/>
              <a:rect r="r" b="b" t="t" l="l"/>
              <a:pathLst>
                <a:path h="189988" w="680647">
                  <a:moveTo>
                    <a:pt x="0" y="0"/>
                  </a:moveTo>
                  <a:lnTo>
                    <a:pt x="680647" y="0"/>
                  </a:lnTo>
                  <a:lnTo>
                    <a:pt x="680647" y="189988"/>
                  </a:lnTo>
                  <a:lnTo>
                    <a:pt x="0" y="189988"/>
                  </a:lnTo>
                  <a:close/>
                </a:path>
              </a:pathLst>
            </a:custGeom>
            <a:solidFill>
              <a:srgbClr val="8D0C0B"/>
            </a:solid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680647" cy="266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기술 스택 후보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931409" y="3281252"/>
          <a:ext cx="9002631" cy="4667250"/>
        </p:xfrm>
        <a:graphic>
          <a:graphicData uri="http://schemas.openxmlformats.org/drawingml/2006/table">
            <a:tbl>
              <a:tblPr/>
              <a:tblGrid>
                <a:gridCol w="1645062"/>
                <a:gridCol w="2582802"/>
                <a:gridCol w="4774768"/>
              </a:tblGrid>
              <a:tr h="1023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역할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기술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선</a:t>
                      </a:r>
                      <a:r>
                        <a:rPr lang="en-US" b="true" sz="25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정 기준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00"/>
                    </a:solidFill>
                  </a:tcPr>
                </a:tc>
              </a:tr>
              <a:tr h="1214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음성 인식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faster-whisper / 클라우드 STT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위치 정확도 · 표시 지연 비교 후 결정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</a:tr>
              <a:tr h="1214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백엔드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Pyth</a:t>
                      </a:r>
                      <a:r>
                        <a:rPr lang="en-US" b="true" sz="1900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on · FastAPI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음성인식 도구와 같은 언어, 실시간 전달(WebSocket) 지원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</a:tr>
              <a:tr h="1214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프론트엔드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React + Vite (TypeScript)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BB090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설치형 프로그램에 포함되는 브라우저 기반 보조 화면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487625" y="369853"/>
            <a:ext cx="397628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 개발 내용 · 시스템 아키텍처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2060" y="9768243"/>
            <a:ext cx="352380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* 음성인식은 10월 중 비교 후 확정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8414" y="9538690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77015" y="520665"/>
            <a:ext cx="1534644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5545" y="4800422"/>
            <a:ext cx="9134897" cy="5169015"/>
          </a:xfrm>
          <a:custGeom>
            <a:avLst/>
            <a:gdLst/>
            <a:ahLst/>
            <a:cxnLst/>
            <a:rect r="r" b="b" t="t" l="l"/>
            <a:pathLst>
              <a:path h="5169015" w="9134897">
                <a:moveTo>
                  <a:pt x="0" y="0"/>
                </a:moveTo>
                <a:lnTo>
                  <a:pt x="9134897" y="0"/>
                </a:lnTo>
                <a:lnTo>
                  <a:pt x="9134897" y="5169015"/>
                </a:lnTo>
                <a:lnTo>
                  <a:pt x="0" y="5169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4402" y="1401904"/>
            <a:ext cx="9317183" cy="8707951"/>
            <a:chOff x="0" y="0"/>
            <a:chExt cx="717450" cy="670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7450" cy="670537"/>
            </a:xfrm>
            <a:custGeom>
              <a:avLst/>
              <a:gdLst/>
              <a:ahLst/>
              <a:cxnLst/>
              <a:rect r="r" b="b" t="t" l="l"/>
              <a:pathLst>
                <a:path h="670537" w="717450">
                  <a:moveTo>
                    <a:pt x="16229" y="0"/>
                  </a:moveTo>
                  <a:lnTo>
                    <a:pt x="701220" y="0"/>
                  </a:lnTo>
                  <a:cubicBezTo>
                    <a:pt x="705525" y="0"/>
                    <a:pt x="709653" y="1710"/>
                    <a:pt x="712696" y="4753"/>
                  </a:cubicBezTo>
                  <a:cubicBezTo>
                    <a:pt x="715740" y="7797"/>
                    <a:pt x="717450" y="11925"/>
                    <a:pt x="717450" y="16229"/>
                  </a:cubicBezTo>
                  <a:lnTo>
                    <a:pt x="717450" y="654308"/>
                  </a:lnTo>
                  <a:cubicBezTo>
                    <a:pt x="717450" y="658612"/>
                    <a:pt x="715740" y="662740"/>
                    <a:pt x="712696" y="665783"/>
                  </a:cubicBezTo>
                  <a:cubicBezTo>
                    <a:pt x="709653" y="668827"/>
                    <a:pt x="705525" y="670537"/>
                    <a:pt x="701220" y="670537"/>
                  </a:cubicBezTo>
                  <a:lnTo>
                    <a:pt x="16229" y="670537"/>
                  </a:lnTo>
                  <a:cubicBezTo>
                    <a:pt x="11925" y="670537"/>
                    <a:pt x="7797" y="668827"/>
                    <a:pt x="4753" y="665783"/>
                  </a:cubicBezTo>
                  <a:cubicBezTo>
                    <a:pt x="1710" y="662740"/>
                    <a:pt x="0" y="658612"/>
                    <a:pt x="0" y="654308"/>
                  </a:cubicBezTo>
                  <a:lnTo>
                    <a:pt x="0" y="16229"/>
                  </a:lnTo>
                  <a:cubicBezTo>
                    <a:pt x="0" y="11925"/>
                    <a:pt x="1710" y="7797"/>
                    <a:pt x="4753" y="4753"/>
                  </a:cubicBezTo>
                  <a:cubicBezTo>
                    <a:pt x="7797" y="1710"/>
                    <a:pt x="11925" y="0"/>
                    <a:pt x="1622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717450" cy="746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3598" y="1028700"/>
            <a:ext cx="2985629" cy="768985"/>
            <a:chOff x="0" y="0"/>
            <a:chExt cx="812800" cy="209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09347"/>
            </a:xfrm>
            <a:custGeom>
              <a:avLst/>
              <a:gdLst/>
              <a:ahLst/>
              <a:cxnLst/>
              <a:rect r="r" b="b" t="t" l="l"/>
              <a:pathLst>
                <a:path h="209347" w="812800">
                  <a:moveTo>
                    <a:pt x="609600" y="0"/>
                  </a:moveTo>
                  <a:cubicBezTo>
                    <a:pt x="721824" y="0"/>
                    <a:pt x="812800" y="46864"/>
                    <a:pt x="812800" y="104673"/>
                  </a:cubicBezTo>
                  <a:cubicBezTo>
                    <a:pt x="812800" y="162483"/>
                    <a:pt x="721824" y="209347"/>
                    <a:pt x="609600" y="209347"/>
                  </a:cubicBezTo>
                  <a:lnTo>
                    <a:pt x="203200" y="209347"/>
                  </a:lnTo>
                  <a:cubicBezTo>
                    <a:pt x="90976" y="209347"/>
                    <a:pt x="0" y="162483"/>
                    <a:pt x="0" y="104673"/>
                  </a:cubicBezTo>
                  <a:cubicBezTo>
                    <a:pt x="0" y="4686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DF3E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12800" cy="285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보조 화면 구조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8325" y="2737438"/>
            <a:ext cx="4734286" cy="1177159"/>
            <a:chOff x="0" y="0"/>
            <a:chExt cx="1246890" cy="3100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6890" cy="310034"/>
            </a:xfrm>
            <a:custGeom>
              <a:avLst/>
              <a:gdLst/>
              <a:ahLst/>
              <a:cxnLst/>
              <a:rect r="r" b="b" t="t" l="l"/>
              <a:pathLst>
                <a:path h="310034" w="1246890">
                  <a:moveTo>
                    <a:pt x="83400" y="0"/>
                  </a:moveTo>
                  <a:lnTo>
                    <a:pt x="1163491" y="0"/>
                  </a:lnTo>
                  <a:cubicBezTo>
                    <a:pt x="1209551" y="0"/>
                    <a:pt x="1246890" y="37339"/>
                    <a:pt x="1246890" y="83400"/>
                  </a:cubicBezTo>
                  <a:lnTo>
                    <a:pt x="1246890" y="226634"/>
                  </a:lnTo>
                  <a:cubicBezTo>
                    <a:pt x="1246890" y="272694"/>
                    <a:pt x="1209551" y="310034"/>
                    <a:pt x="1163491" y="310034"/>
                  </a:cubicBezTo>
                  <a:lnTo>
                    <a:pt x="83400" y="310034"/>
                  </a:lnTo>
                  <a:cubicBezTo>
                    <a:pt x="37339" y="310034"/>
                    <a:pt x="0" y="272694"/>
                    <a:pt x="0" y="226634"/>
                  </a:cubicBezTo>
                  <a:lnTo>
                    <a:pt x="0" y="83400"/>
                  </a:lnTo>
                  <a:cubicBezTo>
                    <a:pt x="0" y="37339"/>
                    <a:pt x="37339" y="0"/>
                    <a:pt x="83400" y="0"/>
                  </a:cubicBezTo>
                  <a:close/>
                </a:path>
              </a:pathLst>
            </a:custGeom>
            <a:solidFill>
              <a:srgbClr val="F7E1E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246890" cy="386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1312" y="2009886"/>
            <a:ext cx="1346873" cy="962052"/>
            <a:chOff x="0" y="0"/>
            <a:chExt cx="622300" cy="444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300" cy="444500"/>
            </a:xfrm>
            <a:custGeom>
              <a:avLst/>
              <a:gdLst/>
              <a:ahLst/>
              <a:cxnLst/>
              <a:rect r="r" b="b" t="t" l="l"/>
              <a:pathLst>
                <a:path h="444500" w="622300">
                  <a:moveTo>
                    <a:pt x="512278" y="0"/>
                  </a:moveTo>
                  <a:lnTo>
                    <a:pt x="110022" y="0"/>
                  </a:lnTo>
                  <a:cubicBezTo>
                    <a:pt x="49258" y="0"/>
                    <a:pt x="0" y="49258"/>
                    <a:pt x="0" y="110022"/>
                  </a:cubicBezTo>
                  <a:lnTo>
                    <a:pt x="0" y="398743"/>
                  </a:lnTo>
                  <a:cubicBezTo>
                    <a:pt x="33101" y="433272"/>
                    <a:pt x="139024" y="481613"/>
                    <a:pt x="297909" y="398743"/>
                  </a:cubicBezTo>
                  <a:cubicBezTo>
                    <a:pt x="456795" y="315872"/>
                    <a:pt x="580372" y="364213"/>
                    <a:pt x="622300" y="398743"/>
                  </a:cubicBezTo>
                  <a:lnTo>
                    <a:pt x="622300" y="110022"/>
                  </a:lnTo>
                  <a:cubicBezTo>
                    <a:pt x="622300" y="49258"/>
                    <a:pt x="573042" y="0"/>
                    <a:pt x="512278" y="0"/>
                  </a:cubicBez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6223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화</a:t>
              </a: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면 구성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61662" y="2685694"/>
            <a:ext cx="4167637" cy="1228903"/>
            <a:chOff x="0" y="0"/>
            <a:chExt cx="1097649" cy="3236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649" cy="323662"/>
            </a:xfrm>
            <a:custGeom>
              <a:avLst/>
              <a:gdLst/>
              <a:ahLst/>
              <a:cxnLst/>
              <a:rect r="r" b="b" t="t" l="l"/>
              <a:pathLst>
                <a:path h="323662" w="1097649">
                  <a:moveTo>
                    <a:pt x="94739" y="0"/>
                  </a:moveTo>
                  <a:lnTo>
                    <a:pt x="1002910" y="0"/>
                  </a:lnTo>
                  <a:cubicBezTo>
                    <a:pt x="1028037" y="0"/>
                    <a:pt x="1052134" y="9981"/>
                    <a:pt x="1069901" y="27748"/>
                  </a:cubicBezTo>
                  <a:cubicBezTo>
                    <a:pt x="1087668" y="45515"/>
                    <a:pt x="1097649" y="69613"/>
                    <a:pt x="1097649" y="94739"/>
                  </a:cubicBezTo>
                  <a:lnTo>
                    <a:pt x="1097649" y="228923"/>
                  </a:lnTo>
                  <a:cubicBezTo>
                    <a:pt x="1097649" y="254049"/>
                    <a:pt x="1087668" y="278146"/>
                    <a:pt x="1069901" y="295913"/>
                  </a:cubicBezTo>
                  <a:cubicBezTo>
                    <a:pt x="1052134" y="313680"/>
                    <a:pt x="1028037" y="323662"/>
                    <a:pt x="1002910" y="323662"/>
                  </a:cubicBezTo>
                  <a:lnTo>
                    <a:pt x="94739" y="323662"/>
                  </a:lnTo>
                  <a:cubicBezTo>
                    <a:pt x="69613" y="323662"/>
                    <a:pt x="45515" y="313680"/>
                    <a:pt x="27748" y="295913"/>
                  </a:cubicBezTo>
                  <a:cubicBezTo>
                    <a:pt x="9981" y="278146"/>
                    <a:pt x="0" y="254049"/>
                    <a:pt x="0" y="228923"/>
                  </a:cubicBezTo>
                  <a:lnTo>
                    <a:pt x="0" y="94739"/>
                  </a:lnTo>
                  <a:cubicBezTo>
                    <a:pt x="0" y="69613"/>
                    <a:pt x="9981" y="45515"/>
                    <a:pt x="27748" y="27748"/>
                  </a:cubicBezTo>
                  <a:cubicBezTo>
                    <a:pt x="45515" y="9981"/>
                    <a:pt x="69613" y="0"/>
                    <a:pt x="94739" y="0"/>
                  </a:cubicBezTo>
                  <a:close/>
                </a:path>
              </a:pathLst>
            </a:custGeom>
            <a:solidFill>
              <a:srgbClr val="99ACFF"/>
            </a:solidFill>
            <a:ln w="38100" cap="rnd">
              <a:solidFill>
                <a:srgbClr val="00167A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97649" cy="399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1312" y="4467582"/>
            <a:ext cx="2577637" cy="962052"/>
            <a:chOff x="0" y="0"/>
            <a:chExt cx="1190954" cy="444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0954" cy="444500"/>
            </a:xfrm>
            <a:custGeom>
              <a:avLst/>
              <a:gdLst/>
              <a:ahLst/>
              <a:cxnLst/>
              <a:rect r="r" b="b" t="t" l="l"/>
              <a:pathLst>
                <a:path h="444500" w="1190954">
                  <a:moveTo>
                    <a:pt x="1133465" y="0"/>
                  </a:moveTo>
                  <a:lnTo>
                    <a:pt x="57489" y="0"/>
                  </a:lnTo>
                  <a:cubicBezTo>
                    <a:pt x="25739" y="0"/>
                    <a:pt x="0" y="25739"/>
                    <a:pt x="0" y="57489"/>
                  </a:cubicBezTo>
                  <a:lnTo>
                    <a:pt x="0" y="398743"/>
                  </a:lnTo>
                  <a:cubicBezTo>
                    <a:pt x="63349" y="433272"/>
                    <a:pt x="266064" y="481613"/>
                    <a:pt x="570136" y="398743"/>
                  </a:cubicBezTo>
                  <a:cubicBezTo>
                    <a:pt x="874211" y="315872"/>
                    <a:pt x="1110713" y="364213"/>
                    <a:pt x="1190954" y="398743"/>
                  </a:cubicBezTo>
                  <a:lnTo>
                    <a:pt x="1190954" y="57489"/>
                  </a:lnTo>
                  <a:cubicBezTo>
                    <a:pt x="1190954" y="42242"/>
                    <a:pt x="1184897" y="27619"/>
                    <a:pt x="1174116" y="16838"/>
                  </a:cubicBezTo>
                  <a:cubicBezTo>
                    <a:pt x="1163335" y="6057"/>
                    <a:pt x="1148712" y="0"/>
                    <a:pt x="1133465" y="0"/>
                  </a:cubicBez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190954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보</a:t>
              </a:r>
              <a:r>
                <a:rPr lang="en-US" b="true" sz="25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조 화면 예시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63623" y="1363804"/>
            <a:ext cx="8067950" cy="8746051"/>
            <a:chOff x="0" y="0"/>
            <a:chExt cx="769685" cy="8343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9685" cy="834376"/>
            </a:xfrm>
            <a:custGeom>
              <a:avLst/>
              <a:gdLst/>
              <a:ahLst/>
              <a:cxnLst/>
              <a:rect r="r" b="b" t="t" l="l"/>
              <a:pathLst>
                <a:path h="834376" w="769685">
                  <a:moveTo>
                    <a:pt x="18742" y="0"/>
                  </a:moveTo>
                  <a:lnTo>
                    <a:pt x="750943" y="0"/>
                  </a:lnTo>
                  <a:cubicBezTo>
                    <a:pt x="761294" y="0"/>
                    <a:pt x="769685" y="8391"/>
                    <a:pt x="769685" y="18742"/>
                  </a:cubicBezTo>
                  <a:lnTo>
                    <a:pt x="769685" y="815634"/>
                  </a:lnTo>
                  <a:cubicBezTo>
                    <a:pt x="769685" y="820604"/>
                    <a:pt x="767710" y="825371"/>
                    <a:pt x="764195" y="828886"/>
                  </a:cubicBezTo>
                  <a:cubicBezTo>
                    <a:pt x="760680" y="832401"/>
                    <a:pt x="755913" y="834376"/>
                    <a:pt x="750943" y="834376"/>
                  </a:cubicBezTo>
                  <a:lnTo>
                    <a:pt x="18742" y="834376"/>
                  </a:lnTo>
                  <a:cubicBezTo>
                    <a:pt x="8391" y="834376"/>
                    <a:pt x="0" y="825984"/>
                    <a:pt x="0" y="815634"/>
                  </a:cubicBezTo>
                  <a:lnTo>
                    <a:pt x="0" y="18742"/>
                  </a:lnTo>
                  <a:cubicBezTo>
                    <a:pt x="0" y="8391"/>
                    <a:pt x="8391" y="0"/>
                    <a:pt x="1874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769685" cy="91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68101" y="979311"/>
            <a:ext cx="2473735" cy="768985"/>
            <a:chOff x="0" y="0"/>
            <a:chExt cx="673443" cy="2093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3443" cy="209347"/>
            </a:xfrm>
            <a:custGeom>
              <a:avLst/>
              <a:gdLst/>
              <a:ahLst/>
              <a:cxnLst/>
              <a:rect r="r" b="b" t="t" l="l"/>
              <a:pathLst>
                <a:path h="209347" w="673443">
                  <a:moveTo>
                    <a:pt x="470243" y="0"/>
                  </a:moveTo>
                  <a:cubicBezTo>
                    <a:pt x="582468" y="0"/>
                    <a:pt x="673443" y="46864"/>
                    <a:pt x="673443" y="104673"/>
                  </a:cubicBezTo>
                  <a:cubicBezTo>
                    <a:pt x="673443" y="162483"/>
                    <a:pt x="582468" y="209347"/>
                    <a:pt x="470243" y="209347"/>
                  </a:cubicBezTo>
                  <a:lnTo>
                    <a:pt x="203200" y="209347"/>
                  </a:lnTo>
                  <a:cubicBezTo>
                    <a:pt x="90976" y="209347"/>
                    <a:pt x="0" y="162483"/>
                    <a:pt x="0" y="104673"/>
                  </a:cubicBezTo>
                  <a:cubicBezTo>
                    <a:pt x="0" y="4686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DF3E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673443" cy="285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사용 흐름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083839" y="1797685"/>
            <a:ext cx="7827517" cy="8087588"/>
          </a:xfrm>
          <a:custGeom>
            <a:avLst/>
            <a:gdLst/>
            <a:ahLst/>
            <a:cxnLst/>
            <a:rect r="r" b="b" t="t" l="l"/>
            <a:pathLst>
              <a:path h="8087588" w="7827517">
                <a:moveTo>
                  <a:pt x="0" y="0"/>
                </a:moveTo>
                <a:lnTo>
                  <a:pt x="7827517" y="0"/>
                </a:lnTo>
                <a:lnTo>
                  <a:pt x="7827517" y="8087589"/>
                </a:lnTo>
                <a:lnTo>
                  <a:pt x="0" y="8087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70225" y="3391038"/>
            <a:ext cx="4772386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대본 불러오기 · 노래 구간 지정 · 음향 입력·인식 테스트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7625" y="369853"/>
            <a:ext cx="5070315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 개발 내용 · 화면구조 및 사용자 흐름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4637" y="2914788"/>
            <a:ext cx="2976104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BB0907"/>
                </a:solidFill>
                <a:latin typeface="Poppins Bold"/>
                <a:ea typeface="Poppins Bold"/>
                <a:cs typeface="Poppins Bold"/>
                <a:sym typeface="Poppins Bold"/>
              </a:rPr>
              <a:t>준비 화면 · 공연 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53517" y="2875168"/>
            <a:ext cx="1720222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BB0907"/>
                </a:solidFill>
                <a:latin typeface="Poppins Bold"/>
                <a:ea typeface="Poppins Bold"/>
                <a:cs typeface="Poppins Bold"/>
                <a:sym typeface="Poppins Bold"/>
              </a:rPr>
              <a:t>보조</a:t>
            </a:r>
            <a:r>
              <a:rPr lang="en-US" b="true" sz="2500">
                <a:solidFill>
                  <a:srgbClr val="BB0907"/>
                </a:solidFill>
                <a:latin typeface="Poppins Bold"/>
                <a:ea typeface="Poppins Bold"/>
                <a:cs typeface="Poppins Bold"/>
                <a:sym typeface="Poppins Bold"/>
              </a:rPr>
              <a:t> 화면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93368" y="3373258"/>
            <a:ext cx="4135931" cy="30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AI가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찾은 줄 · 대본 이탈 알림 · 입력 상태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763037" y="-6667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625" y="369853"/>
            <a:ext cx="4646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05 기대 효과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549483" y="501615"/>
            <a:ext cx="15738517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77990" y="2231625"/>
            <a:ext cx="5573067" cy="5237642"/>
            <a:chOff x="0" y="0"/>
            <a:chExt cx="1467804" cy="1379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7804" cy="1379461"/>
            </a:xfrm>
            <a:custGeom>
              <a:avLst/>
              <a:gdLst/>
              <a:ahLst/>
              <a:cxnLst/>
              <a:rect r="r" b="b" t="t" l="l"/>
              <a:pathLst>
                <a:path h="1379461" w="1467804">
                  <a:moveTo>
                    <a:pt x="70848" y="0"/>
                  </a:moveTo>
                  <a:lnTo>
                    <a:pt x="1396956" y="0"/>
                  </a:lnTo>
                  <a:cubicBezTo>
                    <a:pt x="1415746" y="0"/>
                    <a:pt x="1433766" y="7464"/>
                    <a:pt x="1447053" y="20751"/>
                  </a:cubicBezTo>
                  <a:cubicBezTo>
                    <a:pt x="1460339" y="34037"/>
                    <a:pt x="1467804" y="52058"/>
                    <a:pt x="1467804" y="70848"/>
                  </a:cubicBezTo>
                  <a:lnTo>
                    <a:pt x="1467804" y="1308614"/>
                  </a:lnTo>
                  <a:cubicBezTo>
                    <a:pt x="1467804" y="1327404"/>
                    <a:pt x="1460339" y="1345424"/>
                    <a:pt x="1447053" y="1358710"/>
                  </a:cubicBezTo>
                  <a:cubicBezTo>
                    <a:pt x="1433766" y="1371997"/>
                    <a:pt x="1415746" y="1379461"/>
                    <a:pt x="1396956" y="1379461"/>
                  </a:cubicBezTo>
                  <a:lnTo>
                    <a:pt x="70848" y="1379461"/>
                  </a:lnTo>
                  <a:cubicBezTo>
                    <a:pt x="31720" y="1379461"/>
                    <a:pt x="0" y="1347742"/>
                    <a:pt x="0" y="1308614"/>
                  </a:cubicBezTo>
                  <a:lnTo>
                    <a:pt x="0" y="70848"/>
                  </a:lnTo>
                  <a:cubicBezTo>
                    <a:pt x="0" y="52058"/>
                    <a:pt x="7464" y="34037"/>
                    <a:pt x="20751" y="20751"/>
                  </a:cubicBezTo>
                  <a:cubicBezTo>
                    <a:pt x="34037" y="7464"/>
                    <a:pt x="52058" y="0"/>
                    <a:pt x="708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467804" cy="145566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35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7990" y="2559176"/>
            <a:ext cx="5408584" cy="4582540"/>
            <a:chOff x="0" y="0"/>
            <a:chExt cx="1424483" cy="12069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4483" cy="1206924"/>
            </a:xfrm>
            <a:custGeom>
              <a:avLst/>
              <a:gdLst/>
              <a:ahLst/>
              <a:cxnLst/>
              <a:rect r="r" b="b" t="t" l="l"/>
              <a:pathLst>
                <a:path h="1206924" w="1424483">
                  <a:moveTo>
                    <a:pt x="73002" y="0"/>
                  </a:moveTo>
                  <a:lnTo>
                    <a:pt x="1351481" y="0"/>
                  </a:lnTo>
                  <a:cubicBezTo>
                    <a:pt x="1391799" y="0"/>
                    <a:pt x="1424483" y="32684"/>
                    <a:pt x="1424483" y="73002"/>
                  </a:cubicBezTo>
                  <a:lnTo>
                    <a:pt x="1424483" y="1133922"/>
                  </a:lnTo>
                  <a:cubicBezTo>
                    <a:pt x="1424483" y="1153283"/>
                    <a:pt x="1416792" y="1171852"/>
                    <a:pt x="1403101" y="1185542"/>
                  </a:cubicBezTo>
                  <a:cubicBezTo>
                    <a:pt x="1389411" y="1199233"/>
                    <a:pt x="1370842" y="1206924"/>
                    <a:pt x="1351481" y="1206924"/>
                  </a:cubicBezTo>
                  <a:lnTo>
                    <a:pt x="73002" y="1206924"/>
                  </a:lnTo>
                  <a:cubicBezTo>
                    <a:pt x="32684" y="1206924"/>
                    <a:pt x="0" y="1174240"/>
                    <a:pt x="0" y="1133922"/>
                  </a:cubicBezTo>
                  <a:lnTo>
                    <a:pt x="0" y="73002"/>
                  </a:lnTo>
                  <a:cubicBezTo>
                    <a:pt x="0" y="53641"/>
                    <a:pt x="7691" y="35072"/>
                    <a:pt x="21382" y="21382"/>
                  </a:cubicBezTo>
                  <a:cubicBezTo>
                    <a:pt x="35072" y="7691"/>
                    <a:pt x="53641" y="0"/>
                    <a:pt x="730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424483" cy="129264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</a:t>
              </a:r>
              <a:r>
                <a:rPr lang="en-US" sz="3000" b="true">
                  <a:solidFill>
                    <a:srgbClr val="BD161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관</a:t>
              </a:r>
              <a:r>
                <a:rPr lang="en-US" sz="3000" b="true">
                  <a:solidFill>
                    <a:srgbClr val="BD161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객</a:t>
              </a:r>
            </a:p>
            <a:p>
              <a:pPr algn="just">
                <a:lnSpc>
                  <a:spcPts val="3500"/>
                </a:lnSpc>
              </a:pPr>
            </a:p>
            <a:p>
              <a:pPr algn="just">
                <a:lnSpc>
                  <a:spcPts val="4000"/>
                </a:lnSpc>
              </a:pPr>
            </a:p>
            <a:p>
              <a:pPr algn="just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대본 이탈 이후 자막 공백·지연 감소 기대</a:t>
              </a:r>
            </a:p>
            <a:p>
              <a:pPr algn="just">
                <a:lnSpc>
                  <a:spcPts val="3519"/>
                </a:lnSpc>
              </a:pPr>
            </a:p>
            <a:p>
              <a:pPr algn="just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애드리브 구간에서 이탈 뒤 올바른 </a:t>
              </a:r>
            </a:p>
            <a:p>
              <a:pPr algn="just">
                <a:lnSpc>
                  <a:spcPts val="3519"/>
                </a:lnSpc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</a:t>
              </a: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자막 이 나오기까지의 시간 단축</a:t>
              </a:r>
            </a:p>
            <a:p>
              <a:pPr algn="just">
                <a:lnSpc>
                  <a:spcPts val="3519"/>
                </a:lnSpc>
              </a:pPr>
            </a:p>
            <a:p>
              <a:pPr algn="l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외국인 / 청각장애인 관객의 동시 관람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6829" y="2426526"/>
            <a:ext cx="1053839" cy="1069467"/>
            <a:chOff x="0" y="0"/>
            <a:chExt cx="277554" cy="2816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554" cy="281670"/>
            </a:xfrm>
            <a:custGeom>
              <a:avLst/>
              <a:gdLst/>
              <a:ahLst/>
              <a:cxnLst/>
              <a:rect r="r" b="b" t="t" l="l"/>
              <a:pathLst>
                <a:path h="281670" w="277554">
                  <a:moveTo>
                    <a:pt x="138777" y="0"/>
                  </a:moveTo>
                  <a:lnTo>
                    <a:pt x="138777" y="0"/>
                  </a:lnTo>
                  <a:cubicBezTo>
                    <a:pt x="215422" y="0"/>
                    <a:pt x="277554" y="62133"/>
                    <a:pt x="277554" y="138777"/>
                  </a:cubicBezTo>
                  <a:lnTo>
                    <a:pt x="277554" y="142893"/>
                  </a:lnTo>
                  <a:cubicBezTo>
                    <a:pt x="277554" y="179699"/>
                    <a:pt x="262933" y="214998"/>
                    <a:pt x="236907" y="241024"/>
                  </a:cubicBezTo>
                  <a:cubicBezTo>
                    <a:pt x="210882" y="267049"/>
                    <a:pt x="175583" y="281670"/>
                    <a:pt x="138777" y="281670"/>
                  </a:cubicBezTo>
                  <a:lnTo>
                    <a:pt x="138777" y="281670"/>
                  </a:lnTo>
                  <a:cubicBezTo>
                    <a:pt x="62133" y="281670"/>
                    <a:pt x="0" y="219538"/>
                    <a:pt x="0" y="142893"/>
                  </a:cubicBezTo>
                  <a:lnTo>
                    <a:pt x="0" y="138777"/>
                  </a:lnTo>
                  <a:cubicBezTo>
                    <a:pt x="0" y="101971"/>
                    <a:pt x="14621" y="66673"/>
                    <a:pt x="40647" y="40647"/>
                  </a:cubicBezTo>
                  <a:cubicBezTo>
                    <a:pt x="66673" y="14621"/>
                    <a:pt x="101971" y="0"/>
                    <a:pt x="138777" y="0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77554" cy="36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26829" y="3865256"/>
            <a:ext cx="4997711" cy="0"/>
          </a:xfrm>
          <a:prstGeom prst="line">
            <a:avLst/>
          </a:prstGeom>
          <a:ln cap="flat" w="38100">
            <a:solidFill>
              <a:srgbClr val="FF28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357466" y="2231625"/>
            <a:ext cx="5573067" cy="5237642"/>
            <a:chOff x="0" y="0"/>
            <a:chExt cx="1467804" cy="13794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7804" cy="1379461"/>
            </a:xfrm>
            <a:custGeom>
              <a:avLst/>
              <a:gdLst/>
              <a:ahLst/>
              <a:cxnLst/>
              <a:rect r="r" b="b" t="t" l="l"/>
              <a:pathLst>
                <a:path h="1379461" w="1467804">
                  <a:moveTo>
                    <a:pt x="70848" y="0"/>
                  </a:moveTo>
                  <a:lnTo>
                    <a:pt x="1396956" y="0"/>
                  </a:lnTo>
                  <a:cubicBezTo>
                    <a:pt x="1415746" y="0"/>
                    <a:pt x="1433766" y="7464"/>
                    <a:pt x="1447053" y="20751"/>
                  </a:cubicBezTo>
                  <a:cubicBezTo>
                    <a:pt x="1460339" y="34037"/>
                    <a:pt x="1467804" y="52058"/>
                    <a:pt x="1467804" y="70848"/>
                  </a:cubicBezTo>
                  <a:lnTo>
                    <a:pt x="1467804" y="1308614"/>
                  </a:lnTo>
                  <a:cubicBezTo>
                    <a:pt x="1467804" y="1327404"/>
                    <a:pt x="1460339" y="1345424"/>
                    <a:pt x="1447053" y="1358710"/>
                  </a:cubicBezTo>
                  <a:cubicBezTo>
                    <a:pt x="1433766" y="1371997"/>
                    <a:pt x="1415746" y="1379461"/>
                    <a:pt x="1396956" y="1379461"/>
                  </a:cubicBezTo>
                  <a:lnTo>
                    <a:pt x="70848" y="1379461"/>
                  </a:lnTo>
                  <a:cubicBezTo>
                    <a:pt x="31720" y="1379461"/>
                    <a:pt x="0" y="1347742"/>
                    <a:pt x="0" y="1308614"/>
                  </a:cubicBezTo>
                  <a:lnTo>
                    <a:pt x="0" y="70848"/>
                  </a:lnTo>
                  <a:cubicBezTo>
                    <a:pt x="0" y="52058"/>
                    <a:pt x="7464" y="34037"/>
                    <a:pt x="20751" y="20751"/>
                  </a:cubicBezTo>
                  <a:cubicBezTo>
                    <a:pt x="34037" y="7464"/>
                    <a:pt x="52058" y="0"/>
                    <a:pt x="708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467804" cy="145566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35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57466" y="2559176"/>
            <a:ext cx="5408584" cy="4582540"/>
            <a:chOff x="0" y="0"/>
            <a:chExt cx="1424483" cy="12069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4483" cy="1206924"/>
            </a:xfrm>
            <a:custGeom>
              <a:avLst/>
              <a:gdLst/>
              <a:ahLst/>
              <a:cxnLst/>
              <a:rect r="r" b="b" t="t" l="l"/>
              <a:pathLst>
                <a:path h="1206924" w="1424483">
                  <a:moveTo>
                    <a:pt x="73002" y="0"/>
                  </a:moveTo>
                  <a:lnTo>
                    <a:pt x="1351481" y="0"/>
                  </a:lnTo>
                  <a:cubicBezTo>
                    <a:pt x="1391799" y="0"/>
                    <a:pt x="1424483" y="32684"/>
                    <a:pt x="1424483" y="73002"/>
                  </a:cubicBezTo>
                  <a:lnTo>
                    <a:pt x="1424483" y="1133922"/>
                  </a:lnTo>
                  <a:cubicBezTo>
                    <a:pt x="1424483" y="1153283"/>
                    <a:pt x="1416792" y="1171852"/>
                    <a:pt x="1403101" y="1185542"/>
                  </a:cubicBezTo>
                  <a:cubicBezTo>
                    <a:pt x="1389411" y="1199233"/>
                    <a:pt x="1370842" y="1206924"/>
                    <a:pt x="1351481" y="1206924"/>
                  </a:cubicBezTo>
                  <a:lnTo>
                    <a:pt x="73002" y="1206924"/>
                  </a:lnTo>
                  <a:cubicBezTo>
                    <a:pt x="32684" y="1206924"/>
                    <a:pt x="0" y="1174240"/>
                    <a:pt x="0" y="1133922"/>
                  </a:cubicBezTo>
                  <a:lnTo>
                    <a:pt x="0" y="73002"/>
                  </a:lnTo>
                  <a:cubicBezTo>
                    <a:pt x="0" y="53641"/>
                    <a:pt x="7691" y="35072"/>
                    <a:pt x="21382" y="21382"/>
                  </a:cubicBezTo>
                  <a:cubicBezTo>
                    <a:pt x="35072" y="7691"/>
                    <a:pt x="53641" y="0"/>
                    <a:pt x="730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424483" cy="129264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</a:t>
              </a:r>
              <a:r>
                <a:rPr lang="en-US" sz="3000" b="true">
                  <a:solidFill>
                    <a:srgbClr val="BD161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오롯플래닛</a:t>
              </a:r>
            </a:p>
            <a:p>
              <a:pPr algn="just">
                <a:lnSpc>
                  <a:spcPts val="3500"/>
                </a:lnSpc>
              </a:pPr>
            </a:p>
            <a:p>
              <a:pPr algn="just">
                <a:lnSpc>
                  <a:spcPts val="4000"/>
                </a:lnSpc>
              </a:pPr>
            </a:p>
            <a:p>
              <a:pPr algn="just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이탈 후 복귀할 큐 탐색 시간 단축</a:t>
              </a:r>
            </a:p>
            <a:p>
              <a:pPr algn="just">
                <a:lnSpc>
                  <a:spcPts val="3519"/>
                </a:lnSpc>
              </a:pPr>
            </a:p>
            <a:p>
              <a:pPr algn="just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신규 오퍼레이터도 운영 가능</a:t>
              </a:r>
            </a:p>
            <a:p>
              <a:pPr algn="just">
                <a:lnSpc>
                  <a:spcPts val="3519"/>
                </a:lnSpc>
              </a:pPr>
            </a:p>
            <a:p>
              <a:pPr algn="l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다양한 공연 준비 간략화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06306" y="2426526"/>
            <a:ext cx="1053839" cy="1069467"/>
            <a:chOff x="0" y="0"/>
            <a:chExt cx="277554" cy="2816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7554" cy="281670"/>
            </a:xfrm>
            <a:custGeom>
              <a:avLst/>
              <a:gdLst/>
              <a:ahLst/>
              <a:cxnLst/>
              <a:rect r="r" b="b" t="t" l="l"/>
              <a:pathLst>
                <a:path h="281670" w="277554">
                  <a:moveTo>
                    <a:pt x="138777" y="0"/>
                  </a:moveTo>
                  <a:lnTo>
                    <a:pt x="138777" y="0"/>
                  </a:lnTo>
                  <a:cubicBezTo>
                    <a:pt x="215422" y="0"/>
                    <a:pt x="277554" y="62133"/>
                    <a:pt x="277554" y="138777"/>
                  </a:cubicBezTo>
                  <a:lnTo>
                    <a:pt x="277554" y="142893"/>
                  </a:lnTo>
                  <a:cubicBezTo>
                    <a:pt x="277554" y="179699"/>
                    <a:pt x="262933" y="214998"/>
                    <a:pt x="236907" y="241024"/>
                  </a:cubicBezTo>
                  <a:cubicBezTo>
                    <a:pt x="210882" y="267049"/>
                    <a:pt x="175583" y="281670"/>
                    <a:pt x="138777" y="281670"/>
                  </a:cubicBezTo>
                  <a:lnTo>
                    <a:pt x="138777" y="281670"/>
                  </a:lnTo>
                  <a:cubicBezTo>
                    <a:pt x="62133" y="281670"/>
                    <a:pt x="0" y="219538"/>
                    <a:pt x="0" y="142893"/>
                  </a:cubicBezTo>
                  <a:lnTo>
                    <a:pt x="0" y="138777"/>
                  </a:lnTo>
                  <a:cubicBezTo>
                    <a:pt x="0" y="101971"/>
                    <a:pt x="14621" y="66673"/>
                    <a:pt x="40647" y="40647"/>
                  </a:cubicBezTo>
                  <a:cubicBezTo>
                    <a:pt x="66673" y="14621"/>
                    <a:pt x="101971" y="0"/>
                    <a:pt x="138777" y="0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277554" cy="36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6606306" y="3865256"/>
            <a:ext cx="4997711" cy="0"/>
          </a:xfrm>
          <a:prstGeom prst="line">
            <a:avLst/>
          </a:prstGeom>
          <a:ln cap="flat" w="38100">
            <a:solidFill>
              <a:srgbClr val="FF28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2136943" y="2231625"/>
            <a:ext cx="5573067" cy="5237642"/>
            <a:chOff x="0" y="0"/>
            <a:chExt cx="1467804" cy="13794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7804" cy="1379461"/>
            </a:xfrm>
            <a:custGeom>
              <a:avLst/>
              <a:gdLst/>
              <a:ahLst/>
              <a:cxnLst/>
              <a:rect r="r" b="b" t="t" l="l"/>
              <a:pathLst>
                <a:path h="1379461" w="1467804">
                  <a:moveTo>
                    <a:pt x="70848" y="0"/>
                  </a:moveTo>
                  <a:lnTo>
                    <a:pt x="1396956" y="0"/>
                  </a:lnTo>
                  <a:cubicBezTo>
                    <a:pt x="1415746" y="0"/>
                    <a:pt x="1433766" y="7464"/>
                    <a:pt x="1447053" y="20751"/>
                  </a:cubicBezTo>
                  <a:cubicBezTo>
                    <a:pt x="1460339" y="34037"/>
                    <a:pt x="1467804" y="52058"/>
                    <a:pt x="1467804" y="70848"/>
                  </a:cubicBezTo>
                  <a:lnTo>
                    <a:pt x="1467804" y="1308614"/>
                  </a:lnTo>
                  <a:cubicBezTo>
                    <a:pt x="1467804" y="1327404"/>
                    <a:pt x="1460339" y="1345424"/>
                    <a:pt x="1447053" y="1358710"/>
                  </a:cubicBezTo>
                  <a:cubicBezTo>
                    <a:pt x="1433766" y="1371997"/>
                    <a:pt x="1415746" y="1379461"/>
                    <a:pt x="1396956" y="1379461"/>
                  </a:cubicBezTo>
                  <a:lnTo>
                    <a:pt x="70848" y="1379461"/>
                  </a:lnTo>
                  <a:cubicBezTo>
                    <a:pt x="31720" y="1379461"/>
                    <a:pt x="0" y="1347742"/>
                    <a:pt x="0" y="1308614"/>
                  </a:cubicBezTo>
                  <a:lnTo>
                    <a:pt x="0" y="70848"/>
                  </a:lnTo>
                  <a:cubicBezTo>
                    <a:pt x="0" y="52058"/>
                    <a:pt x="7464" y="34037"/>
                    <a:pt x="20751" y="20751"/>
                  </a:cubicBezTo>
                  <a:cubicBezTo>
                    <a:pt x="34037" y="7464"/>
                    <a:pt x="52058" y="0"/>
                    <a:pt x="708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1467804" cy="145566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35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40084" y="2559176"/>
            <a:ext cx="5401171" cy="4582540"/>
            <a:chOff x="0" y="0"/>
            <a:chExt cx="1422531" cy="12069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22531" cy="1206924"/>
            </a:xfrm>
            <a:custGeom>
              <a:avLst/>
              <a:gdLst/>
              <a:ahLst/>
              <a:cxnLst/>
              <a:rect r="r" b="b" t="t" l="l"/>
              <a:pathLst>
                <a:path h="1206924" w="1422531">
                  <a:moveTo>
                    <a:pt x="73102" y="0"/>
                  </a:moveTo>
                  <a:lnTo>
                    <a:pt x="1349428" y="0"/>
                  </a:lnTo>
                  <a:cubicBezTo>
                    <a:pt x="1389802" y="0"/>
                    <a:pt x="1422531" y="32729"/>
                    <a:pt x="1422531" y="73102"/>
                  </a:cubicBezTo>
                  <a:lnTo>
                    <a:pt x="1422531" y="1133822"/>
                  </a:lnTo>
                  <a:cubicBezTo>
                    <a:pt x="1422531" y="1174195"/>
                    <a:pt x="1389802" y="1206924"/>
                    <a:pt x="1349428" y="1206924"/>
                  </a:cubicBezTo>
                  <a:lnTo>
                    <a:pt x="73102" y="1206924"/>
                  </a:lnTo>
                  <a:cubicBezTo>
                    <a:pt x="32729" y="1206924"/>
                    <a:pt x="0" y="1174195"/>
                    <a:pt x="0" y="1133822"/>
                  </a:cubicBezTo>
                  <a:lnTo>
                    <a:pt x="0" y="73102"/>
                  </a:lnTo>
                  <a:cubicBezTo>
                    <a:pt x="0" y="32729"/>
                    <a:pt x="32729" y="0"/>
                    <a:pt x="731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422531" cy="129264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</a:t>
              </a:r>
              <a:r>
                <a:rPr lang="en-US" sz="3000" b="true">
                  <a:solidFill>
                    <a:srgbClr val="BD161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사회적 가치</a:t>
              </a:r>
            </a:p>
            <a:p>
              <a:pPr algn="just">
                <a:lnSpc>
                  <a:spcPts val="3500"/>
                </a:lnSpc>
              </a:pPr>
            </a:p>
            <a:p>
              <a:pPr algn="just">
                <a:lnSpc>
                  <a:spcPts val="4000"/>
                </a:lnSpc>
              </a:pPr>
            </a:p>
            <a:p>
              <a:pPr algn="just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추가 전용 장비 없이 노트북 기반으로 사용할 수 있는 오픈소스 보조도구 제안</a:t>
              </a:r>
            </a:p>
            <a:p>
              <a:pPr algn="just">
                <a:lnSpc>
                  <a:spcPts val="3519"/>
                </a:lnSpc>
              </a:pPr>
            </a:p>
            <a:p>
              <a:pPr algn="l" marL="474979" indent="-237490" lvl="1">
                <a:lnSpc>
                  <a:spcPts val="351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향후 다양한 공연장·접근성 서비스로의 확장 가능성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85783" y="2426526"/>
            <a:ext cx="1053839" cy="1069467"/>
            <a:chOff x="0" y="0"/>
            <a:chExt cx="277554" cy="2816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7554" cy="281670"/>
            </a:xfrm>
            <a:custGeom>
              <a:avLst/>
              <a:gdLst/>
              <a:ahLst/>
              <a:cxnLst/>
              <a:rect r="r" b="b" t="t" l="l"/>
              <a:pathLst>
                <a:path h="281670" w="277554">
                  <a:moveTo>
                    <a:pt x="138777" y="0"/>
                  </a:moveTo>
                  <a:lnTo>
                    <a:pt x="138777" y="0"/>
                  </a:lnTo>
                  <a:cubicBezTo>
                    <a:pt x="215422" y="0"/>
                    <a:pt x="277554" y="62133"/>
                    <a:pt x="277554" y="138777"/>
                  </a:cubicBezTo>
                  <a:lnTo>
                    <a:pt x="277554" y="142893"/>
                  </a:lnTo>
                  <a:cubicBezTo>
                    <a:pt x="277554" y="179699"/>
                    <a:pt x="262933" y="214998"/>
                    <a:pt x="236907" y="241024"/>
                  </a:cubicBezTo>
                  <a:cubicBezTo>
                    <a:pt x="210882" y="267049"/>
                    <a:pt x="175583" y="281670"/>
                    <a:pt x="138777" y="281670"/>
                  </a:cubicBezTo>
                  <a:lnTo>
                    <a:pt x="138777" y="281670"/>
                  </a:lnTo>
                  <a:cubicBezTo>
                    <a:pt x="62133" y="281670"/>
                    <a:pt x="0" y="219538"/>
                    <a:pt x="0" y="142893"/>
                  </a:cubicBezTo>
                  <a:lnTo>
                    <a:pt x="0" y="138777"/>
                  </a:lnTo>
                  <a:cubicBezTo>
                    <a:pt x="0" y="101971"/>
                    <a:pt x="14621" y="66673"/>
                    <a:pt x="40647" y="40647"/>
                  </a:cubicBezTo>
                  <a:cubicBezTo>
                    <a:pt x="66673" y="14621"/>
                    <a:pt x="101971" y="0"/>
                    <a:pt x="138777" y="0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277554" cy="36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2385783" y="3865256"/>
            <a:ext cx="4997711" cy="0"/>
          </a:xfrm>
          <a:prstGeom prst="line">
            <a:avLst/>
          </a:prstGeom>
          <a:ln cap="flat" w="38100">
            <a:solidFill>
              <a:srgbClr val="FF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7680307" y="953528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625" y="369853"/>
            <a:ext cx="4646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06 추진 계획(전체)</a:t>
            </a:r>
          </a:p>
        </p:txBody>
      </p:sp>
      <p:sp>
        <p:nvSpPr>
          <p:cNvPr name="AutoShape 3" id="3"/>
          <p:cNvSpPr/>
          <p:nvPr/>
        </p:nvSpPr>
        <p:spPr>
          <a:xfrm>
            <a:off x="3367404" y="501615"/>
            <a:ext cx="1492059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827275"/>
            <a:ext cx="18181181" cy="7824577"/>
          </a:xfrm>
          <a:custGeom>
            <a:avLst/>
            <a:gdLst/>
            <a:ahLst/>
            <a:cxnLst/>
            <a:rect r="r" b="b" t="t" l="l"/>
            <a:pathLst>
              <a:path h="7824577" w="18181181">
                <a:moveTo>
                  <a:pt x="0" y="0"/>
                </a:moveTo>
                <a:lnTo>
                  <a:pt x="18181181" y="0"/>
                </a:lnTo>
                <a:lnTo>
                  <a:pt x="18181181" y="7824577"/>
                </a:lnTo>
                <a:lnTo>
                  <a:pt x="0" y="7824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5" t="0" r="0" b="-25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06479" y="955357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625" y="369853"/>
            <a:ext cx="4646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06 추진 계획(개인)</a:t>
            </a:r>
          </a:p>
        </p:txBody>
      </p:sp>
      <p:sp>
        <p:nvSpPr>
          <p:cNvPr name="AutoShape 3" id="3"/>
          <p:cNvSpPr/>
          <p:nvPr/>
        </p:nvSpPr>
        <p:spPr>
          <a:xfrm>
            <a:off x="3367404" y="501615"/>
            <a:ext cx="1492059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53689" y="743346"/>
            <a:ext cx="17585409" cy="9103599"/>
          </a:xfrm>
          <a:custGeom>
            <a:avLst/>
            <a:gdLst/>
            <a:ahLst/>
            <a:cxnLst/>
            <a:rect r="r" b="b" t="t" l="l"/>
            <a:pathLst>
              <a:path h="9103599" w="17585409">
                <a:moveTo>
                  <a:pt x="0" y="0"/>
                </a:moveTo>
                <a:lnTo>
                  <a:pt x="17585409" y="0"/>
                </a:lnTo>
                <a:lnTo>
                  <a:pt x="17585409" y="9103599"/>
                </a:lnTo>
                <a:lnTo>
                  <a:pt x="0" y="9103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" r="-2011" b="-67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06479" y="955357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480" y="1643968"/>
            <a:ext cx="4782071" cy="7614332"/>
            <a:chOff x="0" y="0"/>
            <a:chExt cx="1259475" cy="20054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9475" cy="2005421"/>
            </a:xfrm>
            <a:custGeom>
              <a:avLst/>
              <a:gdLst/>
              <a:ahLst/>
              <a:cxnLst/>
              <a:rect r="r" b="b" t="t" l="l"/>
              <a:pathLst>
                <a:path h="2005421" w="1259475">
                  <a:moveTo>
                    <a:pt x="82566" y="0"/>
                  </a:moveTo>
                  <a:lnTo>
                    <a:pt x="1176909" y="0"/>
                  </a:lnTo>
                  <a:cubicBezTo>
                    <a:pt x="1198807" y="0"/>
                    <a:pt x="1219808" y="8699"/>
                    <a:pt x="1235292" y="24183"/>
                  </a:cubicBezTo>
                  <a:cubicBezTo>
                    <a:pt x="1250777" y="39667"/>
                    <a:pt x="1259475" y="60668"/>
                    <a:pt x="1259475" y="82566"/>
                  </a:cubicBezTo>
                  <a:lnTo>
                    <a:pt x="1259475" y="1922855"/>
                  </a:lnTo>
                  <a:cubicBezTo>
                    <a:pt x="1259475" y="1944752"/>
                    <a:pt x="1250777" y="1965753"/>
                    <a:pt x="1235292" y="1981238"/>
                  </a:cubicBezTo>
                  <a:cubicBezTo>
                    <a:pt x="1219808" y="1996722"/>
                    <a:pt x="1198807" y="2005421"/>
                    <a:pt x="1176909" y="2005421"/>
                  </a:cubicBezTo>
                  <a:lnTo>
                    <a:pt x="82566" y="2005421"/>
                  </a:lnTo>
                  <a:cubicBezTo>
                    <a:pt x="60668" y="2005421"/>
                    <a:pt x="39667" y="1996722"/>
                    <a:pt x="24183" y="1981238"/>
                  </a:cubicBezTo>
                  <a:cubicBezTo>
                    <a:pt x="8699" y="1965753"/>
                    <a:pt x="0" y="1944752"/>
                    <a:pt x="0" y="1922855"/>
                  </a:cubicBezTo>
                  <a:lnTo>
                    <a:pt x="0" y="82566"/>
                  </a:lnTo>
                  <a:cubicBezTo>
                    <a:pt x="0" y="60668"/>
                    <a:pt x="8699" y="39667"/>
                    <a:pt x="24183" y="24183"/>
                  </a:cubicBezTo>
                  <a:cubicBezTo>
                    <a:pt x="39667" y="8699"/>
                    <a:pt x="60668" y="0"/>
                    <a:pt x="825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259475" cy="194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52964" y="1643968"/>
            <a:ext cx="4782071" cy="7614332"/>
            <a:chOff x="0" y="0"/>
            <a:chExt cx="1259475" cy="2005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9475" cy="2005421"/>
            </a:xfrm>
            <a:custGeom>
              <a:avLst/>
              <a:gdLst/>
              <a:ahLst/>
              <a:cxnLst/>
              <a:rect r="r" b="b" t="t" l="l"/>
              <a:pathLst>
                <a:path h="2005421" w="1259475">
                  <a:moveTo>
                    <a:pt x="82566" y="0"/>
                  </a:moveTo>
                  <a:lnTo>
                    <a:pt x="1176909" y="0"/>
                  </a:lnTo>
                  <a:cubicBezTo>
                    <a:pt x="1198807" y="0"/>
                    <a:pt x="1219808" y="8699"/>
                    <a:pt x="1235292" y="24183"/>
                  </a:cubicBezTo>
                  <a:cubicBezTo>
                    <a:pt x="1250777" y="39667"/>
                    <a:pt x="1259475" y="60668"/>
                    <a:pt x="1259475" y="82566"/>
                  </a:cubicBezTo>
                  <a:lnTo>
                    <a:pt x="1259475" y="1922855"/>
                  </a:lnTo>
                  <a:cubicBezTo>
                    <a:pt x="1259475" y="1944752"/>
                    <a:pt x="1250777" y="1965753"/>
                    <a:pt x="1235292" y="1981238"/>
                  </a:cubicBezTo>
                  <a:cubicBezTo>
                    <a:pt x="1219808" y="1996722"/>
                    <a:pt x="1198807" y="2005421"/>
                    <a:pt x="1176909" y="2005421"/>
                  </a:cubicBezTo>
                  <a:lnTo>
                    <a:pt x="82566" y="2005421"/>
                  </a:lnTo>
                  <a:cubicBezTo>
                    <a:pt x="60668" y="2005421"/>
                    <a:pt x="39667" y="1996722"/>
                    <a:pt x="24183" y="1981238"/>
                  </a:cubicBezTo>
                  <a:cubicBezTo>
                    <a:pt x="8699" y="1965753"/>
                    <a:pt x="0" y="1944752"/>
                    <a:pt x="0" y="1922855"/>
                  </a:cubicBezTo>
                  <a:lnTo>
                    <a:pt x="0" y="82566"/>
                  </a:lnTo>
                  <a:cubicBezTo>
                    <a:pt x="0" y="60668"/>
                    <a:pt x="8699" y="39667"/>
                    <a:pt x="24183" y="24183"/>
                  </a:cubicBezTo>
                  <a:cubicBezTo>
                    <a:pt x="39667" y="8699"/>
                    <a:pt x="60668" y="0"/>
                    <a:pt x="825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1259475" cy="194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16136" y="1643968"/>
            <a:ext cx="4782071" cy="7614332"/>
            <a:chOff x="0" y="0"/>
            <a:chExt cx="1259475" cy="20054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475" cy="2005421"/>
            </a:xfrm>
            <a:custGeom>
              <a:avLst/>
              <a:gdLst/>
              <a:ahLst/>
              <a:cxnLst/>
              <a:rect r="r" b="b" t="t" l="l"/>
              <a:pathLst>
                <a:path h="2005421" w="1259475">
                  <a:moveTo>
                    <a:pt x="82566" y="0"/>
                  </a:moveTo>
                  <a:lnTo>
                    <a:pt x="1176909" y="0"/>
                  </a:lnTo>
                  <a:cubicBezTo>
                    <a:pt x="1198807" y="0"/>
                    <a:pt x="1219808" y="8699"/>
                    <a:pt x="1235292" y="24183"/>
                  </a:cubicBezTo>
                  <a:cubicBezTo>
                    <a:pt x="1250777" y="39667"/>
                    <a:pt x="1259475" y="60668"/>
                    <a:pt x="1259475" y="82566"/>
                  </a:cubicBezTo>
                  <a:lnTo>
                    <a:pt x="1259475" y="1922855"/>
                  </a:lnTo>
                  <a:cubicBezTo>
                    <a:pt x="1259475" y="1944752"/>
                    <a:pt x="1250777" y="1965753"/>
                    <a:pt x="1235292" y="1981238"/>
                  </a:cubicBezTo>
                  <a:cubicBezTo>
                    <a:pt x="1219808" y="1996722"/>
                    <a:pt x="1198807" y="2005421"/>
                    <a:pt x="1176909" y="2005421"/>
                  </a:cubicBezTo>
                  <a:lnTo>
                    <a:pt x="82566" y="2005421"/>
                  </a:lnTo>
                  <a:cubicBezTo>
                    <a:pt x="60668" y="2005421"/>
                    <a:pt x="39667" y="1996722"/>
                    <a:pt x="24183" y="1981238"/>
                  </a:cubicBezTo>
                  <a:cubicBezTo>
                    <a:pt x="8699" y="1965753"/>
                    <a:pt x="0" y="1944752"/>
                    <a:pt x="0" y="1922855"/>
                  </a:cubicBezTo>
                  <a:lnTo>
                    <a:pt x="0" y="82566"/>
                  </a:lnTo>
                  <a:cubicBezTo>
                    <a:pt x="0" y="60668"/>
                    <a:pt x="8699" y="39667"/>
                    <a:pt x="24183" y="24183"/>
                  </a:cubicBezTo>
                  <a:cubicBezTo>
                    <a:pt x="39667" y="8699"/>
                    <a:pt x="60668" y="0"/>
                    <a:pt x="825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1259475" cy="194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63703" y="4646081"/>
            <a:ext cx="2045391" cy="805053"/>
            <a:chOff x="0" y="0"/>
            <a:chExt cx="538704" cy="2120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8704" cy="212030"/>
            </a:xfrm>
            <a:custGeom>
              <a:avLst/>
              <a:gdLst/>
              <a:ahLst/>
              <a:cxnLst/>
              <a:rect r="r" b="b" t="t" l="l"/>
              <a:pathLst>
                <a:path h="212030" w="538704">
                  <a:moveTo>
                    <a:pt x="106015" y="0"/>
                  </a:moveTo>
                  <a:lnTo>
                    <a:pt x="432689" y="0"/>
                  </a:lnTo>
                  <a:cubicBezTo>
                    <a:pt x="491239" y="0"/>
                    <a:pt x="538704" y="47465"/>
                    <a:pt x="538704" y="106015"/>
                  </a:cubicBezTo>
                  <a:lnTo>
                    <a:pt x="538704" y="106015"/>
                  </a:lnTo>
                  <a:cubicBezTo>
                    <a:pt x="538704" y="134132"/>
                    <a:pt x="527534" y="161098"/>
                    <a:pt x="507653" y="180979"/>
                  </a:cubicBezTo>
                  <a:cubicBezTo>
                    <a:pt x="487771" y="200861"/>
                    <a:pt x="460805" y="212030"/>
                    <a:pt x="432689" y="212030"/>
                  </a:cubicBezTo>
                  <a:lnTo>
                    <a:pt x="106015" y="212030"/>
                  </a:lnTo>
                  <a:cubicBezTo>
                    <a:pt x="77898" y="212030"/>
                    <a:pt x="50933" y="200861"/>
                    <a:pt x="31051" y="180979"/>
                  </a:cubicBezTo>
                  <a:cubicBezTo>
                    <a:pt x="11169" y="161098"/>
                    <a:pt x="0" y="134132"/>
                    <a:pt x="0" y="106015"/>
                  </a:cubicBezTo>
                  <a:lnTo>
                    <a:pt x="0" y="106015"/>
                  </a:lnTo>
                  <a:cubicBezTo>
                    <a:pt x="0" y="77898"/>
                    <a:pt x="11169" y="50933"/>
                    <a:pt x="31051" y="31051"/>
                  </a:cubicBezTo>
                  <a:cubicBezTo>
                    <a:pt x="50933" y="11169"/>
                    <a:pt x="77898" y="0"/>
                    <a:pt x="106015" y="0"/>
                  </a:cubicBezTo>
                  <a:close/>
                </a:path>
              </a:pathLst>
            </a:custGeom>
            <a:solidFill>
              <a:srgbClr val="8D0C0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538704" cy="15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0"/>
                </a:lnSpc>
              </a:pPr>
              <a:r>
                <a:rPr lang="en-US" sz="3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강지호</a:t>
              </a: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2081788" y="2073872"/>
            <a:ext cx="2204202" cy="2235621"/>
            <a:chOff x="0" y="0"/>
            <a:chExt cx="11582400" cy="11747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-7754" t="-6819" r="-6621" b="-7955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906992" y="2073872"/>
            <a:ext cx="2204202" cy="2235621"/>
            <a:chOff x="0" y="0"/>
            <a:chExt cx="11582400" cy="11747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4"/>
              <a:stretch>
                <a:fillRect l="-38529" t="0" r="-38529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4005400" y="2073872"/>
            <a:ext cx="2204202" cy="2235621"/>
            <a:chOff x="0" y="0"/>
            <a:chExt cx="11582400" cy="11747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5"/>
              <a:stretch>
                <a:fillRect l="223" t="-14339" r="223" b="-14339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61781" y="4622251"/>
            <a:ext cx="2045391" cy="805053"/>
            <a:chOff x="0" y="0"/>
            <a:chExt cx="538704" cy="2120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8704" cy="212030"/>
            </a:xfrm>
            <a:custGeom>
              <a:avLst/>
              <a:gdLst/>
              <a:ahLst/>
              <a:cxnLst/>
              <a:rect r="r" b="b" t="t" l="l"/>
              <a:pathLst>
                <a:path h="212030" w="538704">
                  <a:moveTo>
                    <a:pt x="106015" y="0"/>
                  </a:moveTo>
                  <a:lnTo>
                    <a:pt x="432689" y="0"/>
                  </a:lnTo>
                  <a:cubicBezTo>
                    <a:pt x="491239" y="0"/>
                    <a:pt x="538704" y="47465"/>
                    <a:pt x="538704" y="106015"/>
                  </a:cubicBezTo>
                  <a:lnTo>
                    <a:pt x="538704" y="106015"/>
                  </a:lnTo>
                  <a:cubicBezTo>
                    <a:pt x="538704" y="134132"/>
                    <a:pt x="527534" y="161098"/>
                    <a:pt x="507653" y="180979"/>
                  </a:cubicBezTo>
                  <a:cubicBezTo>
                    <a:pt x="487771" y="200861"/>
                    <a:pt x="460805" y="212030"/>
                    <a:pt x="432689" y="212030"/>
                  </a:cubicBezTo>
                  <a:lnTo>
                    <a:pt x="106015" y="212030"/>
                  </a:lnTo>
                  <a:cubicBezTo>
                    <a:pt x="77898" y="212030"/>
                    <a:pt x="50933" y="200861"/>
                    <a:pt x="31051" y="180979"/>
                  </a:cubicBezTo>
                  <a:cubicBezTo>
                    <a:pt x="11169" y="161098"/>
                    <a:pt x="0" y="134132"/>
                    <a:pt x="0" y="106015"/>
                  </a:cubicBezTo>
                  <a:lnTo>
                    <a:pt x="0" y="106015"/>
                  </a:lnTo>
                  <a:cubicBezTo>
                    <a:pt x="0" y="77898"/>
                    <a:pt x="11169" y="50933"/>
                    <a:pt x="31051" y="31051"/>
                  </a:cubicBezTo>
                  <a:cubicBezTo>
                    <a:pt x="50933" y="11169"/>
                    <a:pt x="77898" y="0"/>
                    <a:pt x="106015" y="0"/>
                  </a:cubicBezTo>
                  <a:close/>
                </a:path>
              </a:pathLst>
            </a:custGeom>
            <a:solidFill>
              <a:srgbClr val="8D0C0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57150"/>
              <a:ext cx="538704" cy="15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0"/>
                </a:lnSpc>
              </a:pPr>
              <a:r>
                <a:rPr lang="en-US" sz="3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이동은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8498" y="4646081"/>
            <a:ext cx="2045391" cy="805053"/>
            <a:chOff x="0" y="0"/>
            <a:chExt cx="538704" cy="2120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8704" cy="212030"/>
            </a:xfrm>
            <a:custGeom>
              <a:avLst/>
              <a:gdLst/>
              <a:ahLst/>
              <a:cxnLst/>
              <a:rect r="r" b="b" t="t" l="l"/>
              <a:pathLst>
                <a:path h="212030" w="538704">
                  <a:moveTo>
                    <a:pt x="106015" y="0"/>
                  </a:moveTo>
                  <a:lnTo>
                    <a:pt x="432689" y="0"/>
                  </a:lnTo>
                  <a:cubicBezTo>
                    <a:pt x="491239" y="0"/>
                    <a:pt x="538704" y="47465"/>
                    <a:pt x="538704" y="106015"/>
                  </a:cubicBezTo>
                  <a:lnTo>
                    <a:pt x="538704" y="106015"/>
                  </a:lnTo>
                  <a:cubicBezTo>
                    <a:pt x="538704" y="134132"/>
                    <a:pt x="527534" y="161098"/>
                    <a:pt x="507653" y="180979"/>
                  </a:cubicBezTo>
                  <a:cubicBezTo>
                    <a:pt x="487771" y="200861"/>
                    <a:pt x="460805" y="212030"/>
                    <a:pt x="432689" y="212030"/>
                  </a:cubicBezTo>
                  <a:lnTo>
                    <a:pt x="106015" y="212030"/>
                  </a:lnTo>
                  <a:cubicBezTo>
                    <a:pt x="77898" y="212030"/>
                    <a:pt x="50933" y="200861"/>
                    <a:pt x="31051" y="180979"/>
                  </a:cubicBezTo>
                  <a:cubicBezTo>
                    <a:pt x="11169" y="161098"/>
                    <a:pt x="0" y="134132"/>
                    <a:pt x="0" y="106015"/>
                  </a:cubicBezTo>
                  <a:lnTo>
                    <a:pt x="0" y="106015"/>
                  </a:lnTo>
                  <a:cubicBezTo>
                    <a:pt x="0" y="77898"/>
                    <a:pt x="11169" y="50933"/>
                    <a:pt x="31051" y="31051"/>
                  </a:cubicBezTo>
                  <a:cubicBezTo>
                    <a:pt x="50933" y="11169"/>
                    <a:pt x="77898" y="0"/>
                    <a:pt x="106015" y="0"/>
                  </a:cubicBezTo>
                  <a:close/>
                </a:path>
              </a:pathLst>
            </a:custGeom>
            <a:solidFill>
              <a:srgbClr val="8D0C0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57150"/>
              <a:ext cx="538704" cy="15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0"/>
                </a:lnSpc>
              </a:pPr>
              <a:r>
                <a:rPr lang="en-US" sz="3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김소영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99263" y="4589134"/>
            <a:ext cx="1823862" cy="918946"/>
            <a:chOff x="0" y="0"/>
            <a:chExt cx="480359" cy="2420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0359" cy="242027"/>
            </a:xfrm>
            <a:custGeom>
              <a:avLst/>
              <a:gdLst/>
              <a:ahLst/>
              <a:cxnLst/>
              <a:rect r="r" b="b" t="t" l="l"/>
              <a:pathLst>
                <a:path h="242027" w="480359">
                  <a:moveTo>
                    <a:pt x="0" y="0"/>
                  </a:moveTo>
                  <a:lnTo>
                    <a:pt x="480359" y="0"/>
                  </a:lnTo>
                  <a:lnTo>
                    <a:pt x="480359" y="242027"/>
                  </a:lnTo>
                  <a:lnTo>
                    <a:pt x="0" y="24202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480359" cy="346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개발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297671" y="4646081"/>
            <a:ext cx="1823862" cy="805053"/>
            <a:chOff x="0" y="0"/>
            <a:chExt cx="480359" cy="2120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0359" cy="212030"/>
            </a:xfrm>
            <a:custGeom>
              <a:avLst/>
              <a:gdLst/>
              <a:ahLst/>
              <a:cxnLst/>
              <a:rect r="r" b="b" t="t" l="l"/>
              <a:pathLst>
                <a:path h="212030" w="480359">
                  <a:moveTo>
                    <a:pt x="0" y="0"/>
                  </a:moveTo>
                  <a:lnTo>
                    <a:pt x="480359" y="0"/>
                  </a:lnTo>
                  <a:lnTo>
                    <a:pt x="480359" y="212030"/>
                  </a:lnTo>
                  <a:lnTo>
                    <a:pt x="0" y="21203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480359" cy="288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405102" y="4622251"/>
            <a:ext cx="1823862" cy="918946"/>
            <a:chOff x="0" y="0"/>
            <a:chExt cx="480359" cy="2420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0359" cy="242027"/>
            </a:xfrm>
            <a:custGeom>
              <a:avLst/>
              <a:gdLst/>
              <a:ahLst/>
              <a:cxnLst/>
              <a:rect r="r" b="b" t="t" l="l"/>
              <a:pathLst>
                <a:path h="242027" w="480359">
                  <a:moveTo>
                    <a:pt x="0" y="0"/>
                  </a:moveTo>
                  <a:lnTo>
                    <a:pt x="480359" y="0"/>
                  </a:lnTo>
                  <a:lnTo>
                    <a:pt x="480359" y="242027"/>
                  </a:lnTo>
                  <a:lnTo>
                    <a:pt x="0" y="24202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480359" cy="346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기획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87625" y="369853"/>
            <a:ext cx="4262504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06 추진 계획  ·  팀원 역할 분담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65344" y="5725491"/>
            <a:ext cx="961513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개발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41562" y="4686975"/>
            <a:ext cx="1936079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디자인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688707" y="955357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93480" y="5798373"/>
            <a:ext cx="4727846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사회혁신가·멘토 소통, 일정 관리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요구사항·KPI(성공 기준) 설계 및 총괄</a:t>
            </a:r>
          </a:p>
          <a:p>
            <a:pPr algn="l" marL="539751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큐 시트 로더·회차 로그, 테스트 데이터 제작,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위치 정확도 측정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52964" y="5807898"/>
            <a:ext cx="4782071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오디오 입력·음성인식, 대본 정렬 엔진, 이탈 감지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로컬 서버(FASTAPI · WEBSOCKET), 모듈 통합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테스트 자동화·저장소 관리, 지연·복귀 시간 측정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95448" y="5798373"/>
            <a:ext cx="4802759" cy="264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준비·보조·설정 화면 UI/UX, 프론트엔드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알림 표시·화면 배치, 켜고 끄기 표시</a:t>
            </a:r>
          </a:p>
          <a:p>
            <a:pPr algn="l" marL="539751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사용 안내 자료, SUS 사용성 평가, 발표 자료 디자인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625" y="369853"/>
            <a:ext cx="4646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07 참고 자료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549483" y="501615"/>
            <a:ext cx="15738517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7580705" cy="7994739"/>
            <a:chOff x="0" y="0"/>
            <a:chExt cx="1996564" cy="21056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6564" cy="2105610"/>
            </a:xfrm>
            <a:custGeom>
              <a:avLst/>
              <a:gdLst/>
              <a:ahLst/>
              <a:cxnLst/>
              <a:rect r="r" b="b" t="t" l="l"/>
              <a:pathLst>
                <a:path h="2105610" w="1996564">
                  <a:moveTo>
                    <a:pt x="52085" y="0"/>
                  </a:moveTo>
                  <a:lnTo>
                    <a:pt x="1944480" y="0"/>
                  </a:lnTo>
                  <a:cubicBezTo>
                    <a:pt x="1973245" y="0"/>
                    <a:pt x="1996564" y="23319"/>
                    <a:pt x="1996564" y="52085"/>
                  </a:cubicBezTo>
                  <a:lnTo>
                    <a:pt x="1996564" y="2053526"/>
                  </a:lnTo>
                  <a:cubicBezTo>
                    <a:pt x="1996564" y="2082291"/>
                    <a:pt x="1973245" y="2105610"/>
                    <a:pt x="1944480" y="2105610"/>
                  </a:cubicBezTo>
                  <a:lnTo>
                    <a:pt x="52085" y="2105610"/>
                  </a:lnTo>
                  <a:cubicBezTo>
                    <a:pt x="23319" y="2105610"/>
                    <a:pt x="0" y="2082291"/>
                    <a:pt x="0" y="2053526"/>
                  </a:cubicBezTo>
                  <a:lnTo>
                    <a:pt x="0" y="52085"/>
                  </a:lnTo>
                  <a:cubicBezTo>
                    <a:pt x="0" y="23319"/>
                    <a:pt x="23319" y="0"/>
                    <a:pt x="520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996564" cy="221991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3999"/>
                </a:lnSpc>
              </a:pPr>
              <a:r>
                <a:rPr lang="en-US" b="true" sz="2499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  <a:p>
              <a:pPr algn="just">
                <a:lnSpc>
                  <a:spcPts val="3999"/>
                </a:lnSpc>
              </a:pPr>
              <a:r>
                <a:rPr lang="en-US" b="true" sz="2499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현장 · 기관 자료</a:t>
              </a:r>
            </a:p>
            <a:p>
              <a:pPr algn="just">
                <a:lnSpc>
                  <a:spcPts val="3200"/>
                </a:lnSpc>
              </a:pPr>
            </a:p>
            <a:p>
              <a:pPr algn="just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1. 박정선, 「오늘의 자막이, 내일의 문화를 만든다」</a:t>
              </a:r>
            </a:p>
            <a:p>
              <a:pPr algn="just">
                <a:lnSpc>
                  <a:spcPts val="2079"/>
                </a:lnSpc>
              </a:pPr>
              <a:r>
                <a:rPr lang="en-US" sz="1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299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데일리안 [언어 장벽 넘는 뮤지컬③], 2025.6.22.</a:t>
              </a:r>
              <a:r>
                <a:rPr lang="en-US" sz="1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</a:t>
              </a:r>
            </a:p>
            <a:p>
              <a:pPr algn="just">
                <a:lnSpc>
                  <a:spcPts val="2080"/>
                </a:lnSpc>
              </a:pPr>
              <a:r>
                <a:rPr lang="en-US" sz="13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300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v.daum.net/v/0jfqjwlohP</a:t>
              </a:r>
            </a:p>
            <a:p>
              <a:pPr algn="just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→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4 · 5쪽 · 연 800편, 원스톱 솔루션, 지하 공연장 네트워크</a:t>
              </a:r>
            </a:p>
            <a:p>
              <a:pPr algn="just">
                <a:lnSpc>
                  <a:spcPts val="2880"/>
                </a:lnSpc>
              </a:pPr>
            </a:p>
            <a:p>
              <a:pPr algn="just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 ㈜오롯플래닛 홈페이지 · 자막 제작 툴</a:t>
              </a:r>
            </a:p>
            <a:p>
              <a:pPr algn="just">
                <a:lnSpc>
                  <a:spcPts val="2080"/>
                </a:lnSpc>
              </a:pPr>
              <a:r>
                <a:rPr lang="en-US" sz="13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300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orotplanet.com ·tool.orotplanet.com</a:t>
              </a:r>
            </a:p>
            <a:p>
              <a:pPr algn="just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→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4쪽 · 미션, 자원봉사 자막 제작 플랫폼</a:t>
              </a:r>
            </a:p>
            <a:p>
              <a:pPr algn="just">
                <a:lnSpc>
                  <a:spcPts val="2880"/>
                </a:lnSpc>
              </a:pPr>
            </a:p>
            <a:p>
              <a:pPr algn="just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. 유니스텝(UNISTEP) 예매 · 안내 사이트</a:t>
              </a:r>
            </a:p>
            <a:p>
              <a:pPr algn="just">
                <a:lnSpc>
                  <a:spcPts val="2080"/>
                </a:lnSpc>
              </a:pPr>
              <a:r>
                <a:rPr lang="en-US" sz="13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300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unistep.imweb.me</a:t>
              </a:r>
            </a:p>
            <a:p>
              <a:pPr algn="just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→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4쪽 · 공연 다국어 자막 서비스 소개</a:t>
              </a:r>
            </a:p>
            <a:p>
              <a:pPr algn="just">
                <a:lnSpc>
                  <a:spcPts val="351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232240" y="2263104"/>
            <a:ext cx="7173624" cy="0"/>
          </a:xfrm>
          <a:prstGeom prst="line">
            <a:avLst/>
          </a:prstGeom>
          <a:ln cap="flat" w="38100">
            <a:solidFill>
              <a:srgbClr val="FF28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78595" y="1028700"/>
            <a:ext cx="7580705" cy="7994739"/>
            <a:chOff x="0" y="0"/>
            <a:chExt cx="1996564" cy="21056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564" cy="2105610"/>
            </a:xfrm>
            <a:custGeom>
              <a:avLst/>
              <a:gdLst/>
              <a:ahLst/>
              <a:cxnLst/>
              <a:rect r="r" b="b" t="t" l="l"/>
              <a:pathLst>
                <a:path h="2105610" w="1996564">
                  <a:moveTo>
                    <a:pt x="52085" y="0"/>
                  </a:moveTo>
                  <a:lnTo>
                    <a:pt x="1944480" y="0"/>
                  </a:lnTo>
                  <a:cubicBezTo>
                    <a:pt x="1973245" y="0"/>
                    <a:pt x="1996564" y="23319"/>
                    <a:pt x="1996564" y="52085"/>
                  </a:cubicBezTo>
                  <a:lnTo>
                    <a:pt x="1996564" y="2053526"/>
                  </a:lnTo>
                  <a:cubicBezTo>
                    <a:pt x="1996564" y="2082291"/>
                    <a:pt x="1973245" y="2105610"/>
                    <a:pt x="1944480" y="2105610"/>
                  </a:cubicBezTo>
                  <a:lnTo>
                    <a:pt x="52085" y="2105610"/>
                  </a:lnTo>
                  <a:cubicBezTo>
                    <a:pt x="23319" y="2105610"/>
                    <a:pt x="0" y="2082291"/>
                    <a:pt x="0" y="2053526"/>
                  </a:cubicBezTo>
                  <a:lnTo>
                    <a:pt x="0" y="52085"/>
                  </a:lnTo>
                  <a:cubicBezTo>
                    <a:pt x="0" y="23319"/>
                    <a:pt x="23319" y="0"/>
                    <a:pt x="520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996564" cy="221991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999"/>
                </a:lnSpc>
              </a:pPr>
              <a:r>
                <a:rPr lang="en-US" sz="2499" b="true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  <a:p>
              <a:pPr algn="l">
                <a:lnSpc>
                  <a:spcPts val="3999"/>
                </a:lnSpc>
              </a:pPr>
              <a:r>
                <a:rPr lang="en-US" b="true" sz="2499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기술 · 방법 자료</a:t>
              </a:r>
            </a:p>
            <a:p>
              <a:pPr algn="ctr">
                <a:lnSpc>
                  <a:spcPts val="3200"/>
                </a:lnSpc>
              </a:pPr>
            </a:p>
            <a:p>
              <a:pPr algn="l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1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. SYSTRAN, FASTER-WHISPER</a:t>
              </a:r>
            </a:p>
            <a:p>
              <a:pPr algn="l">
                <a:lnSpc>
                  <a:spcPts val="2079"/>
                </a:lnSpc>
              </a:pPr>
              <a:r>
                <a:rPr lang="en-US" sz="1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299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OPENAI</a:t>
              </a:r>
              <a:r>
                <a:rPr lang="en-US" sz="1299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 Whisper 모델의 CTranslate2 구현, github.com/SYSTRAN/faster-whisper</a:t>
              </a:r>
            </a:p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→ 11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쪽 · 음성 인식 후보</a:t>
              </a:r>
            </a:p>
            <a:p>
              <a:pPr algn="l">
                <a:lnSpc>
                  <a:spcPts val="2880"/>
                </a:lnSpc>
              </a:pPr>
            </a:p>
            <a:p>
              <a:pPr algn="l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 RADFORD, A. ETAL. , ROBUSTSPEECH RECOGNITIONVIA</a:t>
              </a:r>
            </a:p>
            <a:p>
              <a:pPr algn="l">
                <a:lnSpc>
                  <a:spcPts val="32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LARGE-SCALEWEAK SUPERVISION</a:t>
              </a:r>
            </a:p>
            <a:p>
              <a:pPr algn="l">
                <a:lnSpc>
                  <a:spcPts val="2080"/>
                </a:lnSpc>
              </a:pPr>
              <a:r>
                <a:rPr lang="en-US" sz="13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300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ICML</a:t>
              </a:r>
              <a:r>
                <a:rPr lang="en-US" sz="1300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 2023 (Whisper 원 논문)</a:t>
              </a:r>
            </a:p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→  11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쪽 · faster-whisper가 쓰는 모델</a:t>
              </a:r>
            </a:p>
            <a:p>
              <a:pPr algn="l">
                <a:lnSpc>
                  <a:spcPts val="2880"/>
                </a:lnSpc>
              </a:pPr>
            </a:p>
            <a:p>
              <a:pPr algn="l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. Brooke, J. , SUS: A “quick and dirty” usabilityscale</a:t>
              </a:r>
            </a:p>
            <a:p>
              <a:pPr algn="l">
                <a:lnSpc>
                  <a:spcPts val="2080"/>
                </a:lnSpc>
              </a:pPr>
              <a:r>
                <a:rPr lang="en-US" sz="13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300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unistep.imweb.me</a:t>
              </a:r>
            </a:p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→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4쪽 · 공연 다국어 자막 서비스 소개</a:t>
              </a:r>
            </a:p>
            <a:p>
              <a:pPr algn="l">
                <a:lnSpc>
                  <a:spcPts val="2880"/>
                </a:lnSpc>
              </a:pPr>
            </a:p>
            <a:p>
              <a:pPr algn="l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4. SAURO, J. , APRACTICALGUIDE TOTHE SYSTEM </a:t>
              </a:r>
            </a:p>
            <a:p>
              <a:pPr algn="l">
                <a:lnSpc>
                  <a:spcPts val="32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USABILITYSCALE</a:t>
              </a:r>
            </a:p>
            <a:p>
              <a:pPr algn="l">
                <a:lnSpc>
                  <a:spcPts val="2079"/>
                </a:lnSpc>
              </a:pPr>
              <a:r>
                <a:rPr lang="en-US" sz="1299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en-US" sz="1299">
                  <a:solidFill>
                    <a:srgbClr val="B4B4B4"/>
                  </a:solidFill>
                  <a:latin typeface="Poppins"/>
                  <a:ea typeface="Poppins"/>
                  <a:cs typeface="Poppins"/>
                  <a:sym typeface="Poppins"/>
                </a:rPr>
                <a:t>MEASURING USABILITY LLC, 2011</a:t>
              </a:r>
            </a:p>
            <a:p>
              <a:pPr algn="l">
                <a:lnSpc>
                  <a:spcPts val="2880"/>
                </a:lnSpc>
              </a:pPr>
              <a:r>
                <a:rPr lang="en-US" sz="1800" b="true">
                  <a:solidFill>
                    <a:srgbClr val="8D0C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1800">
                  <a:solidFill>
                    <a:srgbClr val="8D0C0B"/>
                  </a:solidFill>
                  <a:latin typeface="Poppins"/>
                  <a:ea typeface="Poppins"/>
                  <a:cs typeface="Poppins"/>
                  <a:sym typeface="Poppins"/>
                </a:rPr>
                <a:t>→ 8 · 13쪽 · SUS 평균 68점 기준</a:t>
              </a:r>
            </a:p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9882135" y="2282154"/>
            <a:ext cx="7173624" cy="0"/>
          </a:xfrm>
          <a:prstGeom prst="line">
            <a:avLst/>
          </a:prstGeom>
          <a:ln cap="flat" w="38100">
            <a:solidFill>
              <a:srgbClr val="FF28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7687925" y="9563100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2802" y="3590925"/>
            <a:ext cx="16342396" cy="383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0"/>
              </a:lnSpc>
            </a:pPr>
            <a:r>
              <a:rPr lang="en-US" sz="30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6172" y="423457"/>
            <a:ext cx="5211957" cy="44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8"/>
              </a:lnSpc>
            </a:pPr>
            <a:r>
              <a:rPr lang="en-US" b="true" sz="24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오픈소스소프트웨어프로젝트</a:t>
            </a:r>
            <a:r>
              <a:rPr lang="en-US" b="true" sz="244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· 03팀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6038129" y="682963"/>
            <a:ext cx="12764300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686673" y="9582150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90000">
                <a:alpha val="100000"/>
              </a:srgbClr>
            </a:gs>
            <a:gs pos="100000">
              <a:srgbClr val="B63B3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6100" y="3505200"/>
            <a:ext cx="8175800" cy="392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0"/>
              </a:lnSpc>
            </a:pPr>
            <a:r>
              <a:rPr lang="en-US" sz="30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Q &amp;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6172" y="423457"/>
            <a:ext cx="5211957" cy="44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8"/>
              </a:lnSpc>
            </a:pPr>
            <a:r>
              <a:rPr lang="en-US" b="true" sz="24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오픈소스소프트웨어프로젝트</a:t>
            </a:r>
            <a:r>
              <a:rPr lang="en-US" b="true" sz="244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· 03팀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6038129" y="682963"/>
            <a:ext cx="12764300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668875" y="9505950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DAHV6TXVoj8</dc:identifier>
  <dcterms:modified xsi:type="dcterms:W3CDTF">2011-08-01T06:04:30Z</dcterms:modified>
  <cp:revision>1</cp:revision>
  <dc:title>Music</dc:title>
</cp:coreProperties>
</file>